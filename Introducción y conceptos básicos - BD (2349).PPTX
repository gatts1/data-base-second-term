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722" r:id="rId2"/>
  </p:sldMasterIdLst>
  <p:notesMasterIdLst>
    <p:notesMasterId r:id="rId22"/>
  </p:notesMasterIdLst>
  <p:handoutMasterIdLst>
    <p:handoutMasterId r:id="rId23"/>
  </p:handoutMasterIdLst>
  <p:sldIdLst>
    <p:sldId id="417" r:id="rId3"/>
    <p:sldId id="332" r:id="rId4"/>
    <p:sldId id="418" r:id="rId5"/>
    <p:sldId id="510" r:id="rId6"/>
    <p:sldId id="430" r:id="rId7"/>
    <p:sldId id="511" r:id="rId8"/>
    <p:sldId id="486" r:id="rId9"/>
    <p:sldId id="512" r:id="rId10"/>
    <p:sldId id="513" r:id="rId11"/>
    <p:sldId id="514" r:id="rId12"/>
    <p:sldId id="515" r:id="rId13"/>
    <p:sldId id="516" r:id="rId14"/>
    <p:sldId id="517" r:id="rId15"/>
    <p:sldId id="518" r:id="rId16"/>
    <p:sldId id="519" r:id="rId17"/>
    <p:sldId id="507" r:id="rId18"/>
    <p:sldId id="452" r:id="rId19"/>
    <p:sldId id="453" r:id="rId20"/>
    <p:sldId id="416" r:id="rId21"/>
  </p:sldIdLst>
  <p:sldSz cx="9144000" cy="6858000" type="screen4x3"/>
  <p:notesSz cx="6718300" cy="9855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4">
          <p15:clr>
            <a:srgbClr val="A4A3A4"/>
          </p15:clr>
        </p15:guide>
        <p15:guide id="2" pos="211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D1AE"/>
    <a:srgbClr val="0070C0"/>
    <a:srgbClr val="0175B0"/>
    <a:srgbClr val="014165"/>
    <a:srgbClr val="FF6600"/>
    <a:srgbClr val="00AFFF"/>
    <a:srgbClr val="5B9BD5"/>
    <a:srgbClr val="139DFF"/>
    <a:srgbClr val="009AA6"/>
    <a:srgbClr val="6AB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13" autoAdjust="0"/>
    <p:restoredTop sz="94660"/>
  </p:normalViewPr>
  <p:slideViewPr>
    <p:cSldViewPr snapToGrid="0">
      <p:cViewPr varScale="1">
        <p:scale>
          <a:sx n="75" d="100"/>
          <a:sy n="75" d="100"/>
        </p:scale>
        <p:origin x="-708" y="-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2886" y="-120"/>
      </p:cViewPr>
      <p:guideLst>
        <p:guide orient="horz" pos="3104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681B4C-7596-44D7-85F9-9403CAE4A956}" type="doc">
      <dgm:prSet loTypeId="urn:microsoft.com/office/officeart/2005/8/layout/hList3" loCatId="list" qsTypeId="urn:microsoft.com/office/officeart/2005/8/quickstyle/3d1" qsCatId="3D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3C3045AF-3BA3-4216-AD45-0E778C0E486D}">
      <dgm:prSet phldrT="[Texto]" custT="1"/>
      <dgm:spPr>
        <a:solidFill>
          <a:srgbClr val="5B9BD5"/>
        </a:solidFill>
      </dgm:spPr>
      <dgm:t>
        <a:bodyPr/>
        <a:lstStyle/>
        <a:p>
          <a:pPr algn="ctr"/>
          <a:r>
            <a:rPr lang="es-ES" sz="2800" b="1" dirty="0" smtClean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CIERRE</a:t>
          </a:r>
          <a:endParaRPr lang="es-ES" sz="2800" b="1" dirty="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E5CC92B-4B86-4A0C-9820-1BF0D8C9DF85}" type="parTrans" cxnId="{E7B29297-4F95-4F77-AE72-BE5A35FDD7B3}">
      <dgm:prSet/>
      <dgm:spPr/>
      <dgm:t>
        <a:bodyPr/>
        <a:lstStyle/>
        <a:p>
          <a:pPr algn="ctr"/>
          <a:endParaRPr lang="es-ES" sz="1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572FFE8-5C2F-4463-8DE5-517CDD2589A0}" type="sibTrans" cxnId="{E7B29297-4F95-4F77-AE72-BE5A35FDD7B3}">
      <dgm:prSet/>
      <dgm:spPr/>
      <dgm:t>
        <a:bodyPr/>
        <a:lstStyle/>
        <a:p>
          <a:pPr algn="ctr"/>
          <a:endParaRPr lang="es-ES" sz="1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989B6BF-9417-4796-AAB4-624FB20BCF6C}" type="pres">
      <dgm:prSet presAssocID="{EC681B4C-7596-44D7-85F9-9403CAE4A956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989100F-404D-47D8-A1A5-7E956475FA4F}" type="pres">
      <dgm:prSet presAssocID="{3C3045AF-3BA3-4216-AD45-0E778C0E486D}" presName="roof" presStyleLbl="dkBgShp" presStyleIdx="0" presStyleCnt="2" custScaleY="43153"/>
      <dgm:spPr/>
      <dgm:t>
        <a:bodyPr/>
        <a:lstStyle/>
        <a:p>
          <a:endParaRPr lang="es-ES"/>
        </a:p>
      </dgm:t>
    </dgm:pt>
    <dgm:pt modelId="{780D679A-669A-4BA1-AEAE-A8DE480360E3}" type="pres">
      <dgm:prSet presAssocID="{3C3045AF-3BA3-4216-AD45-0E778C0E486D}" presName="pillars" presStyleCnt="0"/>
      <dgm:spPr/>
    </dgm:pt>
    <dgm:pt modelId="{4CA87DCE-040A-4D11-B47D-D21A3AD05CC3}" type="pres">
      <dgm:prSet presAssocID="{3C3045AF-3BA3-4216-AD45-0E778C0E486D}" presName="pillar1" presStyleLbl="node1" presStyleIdx="0" presStyleCnt="1" custLinFactNeighborX="187" custLinFactNeighborY="-2379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endParaRPr lang="es-ES"/>
        </a:p>
      </dgm:t>
    </dgm:pt>
    <dgm:pt modelId="{FFAC0AB7-801D-4667-9BAC-4902987FD84D}" type="pres">
      <dgm:prSet presAssocID="{3C3045AF-3BA3-4216-AD45-0E778C0E486D}" presName="base" presStyleLbl="dkBgShp" presStyleIdx="1" presStyleCnt="2"/>
      <dgm:spPr/>
    </dgm:pt>
  </dgm:ptLst>
  <dgm:cxnLst>
    <dgm:cxn modelId="{E1CA2C0E-E874-4152-A097-D3376B16D87D}" type="presOf" srcId="{EC681B4C-7596-44D7-85F9-9403CAE4A956}" destId="{4989B6BF-9417-4796-AAB4-624FB20BCF6C}" srcOrd="0" destOrd="0" presId="urn:microsoft.com/office/officeart/2005/8/layout/hList3"/>
    <dgm:cxn modelId="{E7B29297-4F95-4F77-AE72-BE5A35FDD7B3}" srcId="{EC681B4C-7596-44D7-85F9-9403CAE4A956}" destId="{3C3045AF-3BA3-4216-AD45-0E778C0E486D}" srcOrd="0" destOrd="0" parTransId="{AE5CC92B-4B86-4A0C-9820-1BF0D8C9DF85}" sibTransId="{F572FFE8-5C2F-4463-8DE5-517CDD2589A0}"/>
    <dgm:cxn modelId="{1590299C-335D-4B0A-99F3-0DC817F3585A}" type="presOf" srcId="{3C3045AF-3BA3-4216-AD45-0E778C0E486D}" destId="{8989100F-404D-47D8-A1A5-7E956475FA4F}" srcOrd="0" destOrd="0" presId="urn:microsoft.com/office/officeart/2005/8/layout/hList3"/>
    <dgm:cxn modelId="{A3763E40-BA26-451E-91B2-F22A8C15122E}" type="presParOf" srcId="{4989B6BF-9417-4796-AAB4-624FB20BCF6C}" destId="{8989100F-404D-47D8-A1A5-7E956475FA4F}" srcOrd="0" destOrd="0" presId="urn:microsoft.com/office/officeart/2005/8/layout/hList3"/>
    <dgm:cxn modelId="{F545F16F-EF85-44A9-951E-513D7A1CFC31}" type="presParOf" srcId="{4989B6BF-9417-4796-AAB4-624FB20BCF6C}" destId="{780D679A-669A-4BA1-AEAE-A8DE480360E3}" srcOrd="1" destOrd="0" presId="urn:microsoft.com/office/officeart/2005/8/layout/hList3"/>
    <dgm:cxn modelId="{98513D6E-DDF5-41B1-9657-E152D2B40439}" type="presParOf" srcId="{780D679A-669A-4BA1-AEAE-A8DE480360E3}" destId="{4CA87DCE-040A-4D11-B47D-D21A3AD05CC3}" srcOrd="0" destOrd="0" presId="urn:microsoft.com/office/officeart/2005/8/layout/hList3"/>
    <dgm:cxn modelId="{5615C965-901C-4809-9818-37DF179AAB62}" type="presParOf" srcId="{4989B6BF-9417-4796-AAB4-624FB20BCF6C}" destId="{FFAC0AB7-801D-4667-9BAC-4902987FD84D}" srcOrd="2" destOrd="0" presId="urn:microsoft.com/office/officeart/2005/8/layout/hList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681B4C-7596-44D7-85F9-9403CAE4A956}" type="doc">
      <dgm:prSet loTypeId="urn:microsoft.com/office/officeart/2005/8/layout/hList3" loCatId="list" qsTypeId="urn:microsoft.com/office/officeart/2005/8/quickstyle/3d1" qsCatId="3D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3C3045AF-3BA3-4216-AD45-0E778C0E486D}">
      <dgm:prSet phldrT="[Texto]" custT="1"/>
      <dgm:spPr>
        <a:solidFill>
          <a:srgbClr val="5B9BD5"/>
        </a:solidFill>
      </dgm:spPr>
      <dgm:t>
        <a:bodyPr/>
        <a:lstStyle/>
        <a:p>
          <a:pPr algn="ctr"/>
          <a:r>
            <a:rPr lang="es-ES" sz="2800" b="1" dirty="0" smtClean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REFERENCIAS</a:t>
          </a:r>
          <a:endParaRPr lang="es-ES" sz="2800" b="1" dirty="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E5CC92B-4B86-4A0C-9820-1BF0D8C9DF85}" type="parTrans" cxnId="{E7B29297-4F95-4F77-AE72-BE5A35FDD7B3}">
      <dgm:prSet/>
      <dgm:spPr/>
      <dgm:t>
        <a:bodyPr/>
        <a:lstStyle/>
        <a:p>
          <a:pPr algn="ctr"/>
          <a:endParaRPr lang="es-ES" sz="1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572FFE8-5C2F-4463-8DE5-517CDD2589A0}" type="sibTrans" cxnId="{E7B29297-4F95-4F77-AE72-BE5A35FDD7B3}">
      <dgm:prSet/>
      <dgm:spPr/>
      <dgm:t>
        <a:bodyPr/>
        <a:lstStyle/>
        <a:p>
          <a:pPr algn="ctr"/>
          <a:endParaRPr lang="es-ES" sz="1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989B6BF-9417-4796-AAB4-624FB20BCF6C}" type="pres">
      <dgm:prSet presAssocID="{EC681B4C-7596-44D7-85F9-9403CAE4A956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989100F-404D-47D8-A1A5-7E956475FA4F}" type="pres">
      <dgm:prSet presAssocID="{3C3045AF-3BA3-4216-AD45-0E778C0E486D}" presName="roof" presStyleLbl="dkBgShp" presStyleIdx="0" presStyleCnt="2" custScaleY="43153"/>
      <dgm:spPr/>
      <dgm:t>
        <a:bodyPr/>
        <a:lstStyle/>
        <a:p>
          <a:endParaRPr lang="es-ES"/>
        </a:p>
      </dgm:t>
    </dgm:pt>
    <dgm:pt modelId="{780D679A-669A-4BA1-AEAE-A8DE480360E3}" type="pres">
      <dgm:prSet presAssocID="{3C3045AF-3BA3-4216-AD45-0E778C0E486D}" presName="pillars" presStyleCnt="0"/>
      <dgm:spPr/>
    </dgm:pt>
    <dgm:pt modelId="{4CA87DCE-040A-4D11-B47D-D21A3AD05CC3}" type="pres">
      <dgm:prSet presAssocID="{3C3045AF-3BA3-4216-AD45-0E778C0E486D}" presName="pillar1" presStyleLbl="node1" presStyleIdx="0" presStyleCnt="1" custLinFactNeighborX="187" custLinFactNeighborY="-2379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endParaRPr lang="es-ES"/>
        </a:p>
      </dgm:t>
    </dgm:pt>
    <dgm:pt modelId="{FFAC0AB7-801D-4667-9BAC-4902987FD84D}" type="pres">
      <dgm:prSet presAssocID="{3C3045AF-3BA3-4216-AD45-0E778C0E486D}" presName="base" presStyleLbl="dkBgShp" presStyleIdx="1" presStyleCnt="2"/>
      <dgm:spPr/>
    </dgm:pt>
  </dgm:ptLst>
  <dgm:cxnLst>
    <dgm:cxn modelId="{57E0F487-8010-4F72-98EC-8747D3813A02}" type="presOf" srcId="{3C3045AF-3BA3-4216-AD45-0E778C0E486D}" destId="{8989100F-404D-47D8-A1A5-7E956475FA4F}" srcOrd="0" destOrd="0" presId="urn:microsoft.com/office/officeart/2005/8/layout/hList3"/>
    <dgm:cxn modelId="{1C71D85E-2B8C-4AC1-996F-877E242EE95C}" type="presOf" srcId="{EC681B4C-7596-44D7-85F9-9403CAE4A956}" destId="{4989B6BF-9417-4796-AAB4-624FB20BCF6C}" srcOrd="0" destOrd="0" presId="urn:microsoft.com/office/officeart/2005/8/layout/hList3"/>
    <dgm:cxn modelId="{E7B29297-4F95-4F77-AE72-BE5A35FDD7B3}" srcId="{EC681B4C-7596-44D7-85F9-9403CAE4A956}" destId="{3C3045AF-3BA3-4216-AD45-0E778C0E486D}" srcOrd="0" destOrd="0" parTransId="{AE5CC92B-4B86-4A0C-9820-1BF0D8C9DF85}" sibTransId="{F572FFE8-5C2F-4463-8DE5-517CDD2589A0}"/>
    <dgm:cxn modelId="{6CED1457-1B4B-4A22-BB25-06ACC863C6A4}" type="presParOf" srcId="{4989B6BF-9417-4796-AAB4-624FB20BCF6C}" destId="{8989100F-404D-47D8-A1A5-7E956475FA4F}" srcOrd="0" destOrd="0" presId="urn:microsoft.com/office/officeart/2005/8/layout/hList3"/>
    <dgm:cxn modelId="{F5B86A97-2F51-444A-9033-3CF709EE8C34}" type="presParOf" srcId="{4989B6BF-9417-4796-AAB4-624FB20BCF6C}" destId="{780D679A-669A-4BA1-AEAE-A8DE480360E3}" srcOrd="1" destOrd="0" presId="urn:microsoft.com/office/officeart/2005/8/layout/hList3"/>
    <dgm:cxn modelId="{41E7B8A3-B39F-4122-8280-4442EE952536}" type="presParOf" srcId="{780D679A-669A-4BA1-AEAE-A8DE480360E3}" destId="{4CA87DCE-040A-4D11-B47D-D21A3AD05CC3}" srcOrd="0" destOrd="0" presId="urn:microsoft.com/office/officeart/2005/8/layout/hList3"/>
    <dgm:cxn modelId="{6F0056B0-4A91-4730-8859-33883F426CDA}" type="presParOf" srcId="{4989B6BF-9417-4796-AAB4-624FB20BCF6C}" destId="{FFAC0AB7-801D-4667-9BAC-4902987FD84D}" srcOrd="2" destOrd="0" presId="urn:microsoft.com/office/officeart/2005/8/layout/hList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05238" y="0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FFBD5-55DF-46D5-8F1F-82647587FDDB}" type="datetimeFigureOut">
              <a:rPr lang="es-PE" smtClean="0"/>
              <a:t>25/06/2018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61488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05238" y="9361488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DF348-FDE7-4CEB-8E23-A94B024739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2772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05482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A4AEC-F0E5-4D6C-AEBB-05B52BD7B57B}" type="datetimeFigureOut">
              <a:rPr lang="es-PE" smtClean="0"/>
              <a:t>25/06/2018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231900"/>
            <a:ext cx="4432300" cy="3325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1830" y="4742815"/>
            <a:ext cx="5374640" cy="38804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05482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DC9FA-D51B-4809-A5CE-6BAD71C6ED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877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1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3" y="263769"/>
            <a:ext cx="5826680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3771" y="5938345"/>
            <a:ext cx="5835474" cy="83031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smtClean="0"/>
              <a:t>Referencia</a:t>
            </a:r>
          </a:p>
          <a:p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68805" y="61380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20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3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625757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2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2759" y="5982631"/>
            <a:ext cx="6399945" cy="85340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smtClean="0"/>
              <a:t>Referencia</a:t>
            </a:r>
          </a:p>
          <a:p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/>
          <a:srcRect r="39262"/>
          <a:stretch/>
        </p:blipFill>
        <p:spPr>
          <a:xfrm>
            <a:off x="344140" y="4761186"/>
            <a:ext cx="1951588" cy="409124"/>
          </a:xfrm>
          <a:prstGeom prst="rect">
            <a:avLst/>
          </a:prstGeom>
        </p:spPr>
      </p:pic>
      <p:pic>
        <p:nvPicPr>
          <p:cNvPr id="9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2" y="263769"/>
            <a:ext cx="7077807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20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5665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3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http://imagenes.universia.net/gc/net/images/universidades/c/ca/car/carrusel-ciberte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7" y="3717433"/>
            <a:ext cx="4347846" cy="208596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45732"/>
            <a:ext cx="6469829" cy="1572986"/>
          </a:xfr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9" name="48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53" name="5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5" name="5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6" name="5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57" name="56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9" name="58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0" name="5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61" name="60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3" name="62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4" name="63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65" name="64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7" name="66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8" name="67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9" name="68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1" name="7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2" name="71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73" name="72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5" name="74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6" name="75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77" name="76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8" name="77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9" name="78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0" name="79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81" name="80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2" name="81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86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87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88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9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90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91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92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93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94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95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714896" y="6025189"/>
            <a:ext cx="5947807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sp>
        <p:nvSpPr>
          <p:cNvPr id="96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37034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4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  <p:pic>
        <p:nvPicPr>
          <p:cNvPr id="2050" name="Picture 2" descr="http://www.movistar.com.pe/documents/10182/1119302/png_bannerD_cibertec.png/a4030f5d-7f46-48fa-99b0-66f25ff07bc9?t=142567872038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37" y="3830464"/>
            <a:ext cx="2967324" cy="1944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20110"/>
            <a:ext cx="6469829" cy="1606787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2" name="41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43" name="4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4" name="4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5" name="4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6" name="4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48" name="4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9" name="48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0" name="49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1" name="50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52" name="51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3" name="52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5" name="54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56" name="55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7" name="56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9" name="5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0" name="59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1" name="6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3" name="62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64" name="63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5" name="64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7" name="66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68" name="67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9" name="68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1" name="70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72" name="71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3" name="72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75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76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77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78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79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0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81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82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83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86" name="16 Subtítulo"/>
          <p:cNvSpPr>
            <a:spLocks noGrp="1"/>
          </p:cNvSpPr>
          <p:nvPr>
            <p:ph type="subTitle" idx="10" hasCustomPrompt="1"/>
          </p:nvPr>
        </p:nvSpPr>
        <p:spPr>
          <a:xfrm>
            <a:off x="712137" y="6025189"/>
            <a:ext cx="5867340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390867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5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179512" y="188640"/>
            <a:ext cx="5133614" cy="1152128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6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179512" y="6025189"/>
            <a:ext cx="8740752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grpSp>
        <p:nvGrpSpPr>
          <p:cNvPr id="81" name="80 Grupo"/>
          <p:cNvGrpSpPr/>
          <p:nvPr userDrawn="1"/>
        </p:nvGrpSpPr>
        <p:grpSpPr>
          <a:xfrm>
            <a:off x="6608811" y="4651274"/>
            <a:ext cx="1549294" cy="1605566"/>
            <a:chOff x="6608811" y="4651274"/>
            <a:chExt cx="1549294" cy="1605566"/>
          </a:xfrm>
        </p:grpSpPr>
        <p:sp>
          <p:nvSpPr>
            <p:cNvPr id="82" name="81 Conector"/>
            <p:cNvSpPr/>
            <p:nvPr userDrawn="1"/>
          </p:nvSpPr>
          <p:spPr>
            <a:xfrm>
              <a:off x="7798105" y="465127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7393222" y="506294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4" name="83 Conector"/>
            <p:cNvSpPr/>
            <p:nvPr userDrawn="1"/>
          </p:nvSpPr>
          <p:spPr>
            <a:xfrm>
              <a:off x="7020758" y="548733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5" name="84 Conector"/>
            <p:cNvSpPr/>
            <p:nvPr userDrawn="1"/>
          </p:nvSpPr>
          <p:spPr>
            <a:xfrm>
              <a:off x="6608811" y="589684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6" name="85 Grupo"/>
          <p:cNvGrpSpPr/>
          <p:nvPr userDrawn="1"/>
        </p:nvGrpSpPr>
        <p:grpSpPr>
          <a:xfrm>
            <a:off x="5090961" y="577034"/>
            <a:ext cx="1560466" cy="1647949"/>
            <a:chOff x="5090961" y="577034"/>
            <a:chExt cx="1560466" cy="1647949"/>
          </a:xfrm>
        </p:grpSpPr>
        <p:sp>
          <p:nvSpPr>
            <p:cNvPr id="87" name="86 Conector"/>
            <p:cNvSpPr/>
            <p:nvPr userDrawn="1"/>
          </p:nvSpPr>
          <p:spPr>
            <a:xfrm>
              <a:off x="6291427" y="57703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8" name="87 Conector"/>
            <p:cNvSpPr/>
            <p:nvPr userDrawn="1"/>
          </p:nvSpPr>
          <p:spPr>
            <a:xfrm>
              <a:off x="5873097" y="100389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9" name="88 Conector"/>
            <p:cNvSpPr/>
            <p:nvPr userDrawn="1"/>
          </p:nvSpPr>
          <p:spPr>
            <a:xfrm>
              <a:off x="5479405" y="142858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0" name="89 Conector"/>
            <p:cNvSpPr/>
            <p:nvPr userDrawn="1"/>
          </p:nvSpPr>
          <p:spPr>
            <a:xfrm>
              <a:off x="5090961" y="186498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1" name="90 Grupo"/>
          <p:cNvGrpSpPr/>
          <p:nvPr userDrawn="1"/>
        </p:nvGrpSpPr>
        <p:grpSpPr>
          <a:xfrm>
            <a:off x="2938823" y="2519805"/>
            <a:ext cx="1553393" cy="1635518"/>
            <a:chOff x="2938823" y="2519805"/>
            <a:chExt cx="1553393" cy="1635518"/>
          </a:xfrm>
        </p:grpSpPr>
        <p:sp>
          <p:nvSpPr>
            <p:cNvPr id="92" name="9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3" name="9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4" name="9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5" name="9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6" name="95 Grupo"/>
          <p:cNvGrpSpPr/>
          <p:nvPr userDrawn="1"/>
        </p:nvGrpSpPr>
        <p:grpSpPr>
          <a:xfrm>
            <a:off x="6471427" y="577034"/>
            <a:ext cx="1552628" cy="1633593"/>
            <a:chOff x="6471427" y="577034"/>
            <a:chExt cx="1552628" cy="1633593"/>
          </a:xfrm>
        </p:grpSpPr>
        <p:sp>
          <p:nvSpPr>
            <p:cNvPr id="97" name="96 Conector"/>
            <p:cNvSpPr/>
            <p:nvPr userDrawn="1"/>
          </p:nvSpPr>
          <p:spPr>
            <a:xfrm>
              <a:off x="6471427" y="1850627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8" name="97 Conector"/>
            <p:cNvSpPr/>
            <p:nvPr userDrawn="1"/>
          </p:nvSpPr>
          <p:spPr>
            <a:xfrm>
              <a:off x="6864802" y="1415699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9" name="98 Conector"/>
            <p:cNvSpPr/>
            <p:nvPr userDrawn="1"/>
          </p:nvSpPr>
          <p:spPr>
            <a:xfrm>
              <a:off x="7258833" y="1016570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0" name="99 Conector"/>
            <p:cNvSpPr/>
            <p:nvPr userDrawn="1"/>
          </p:nvSpPr>
          <p:spPr>
            <a:xfrm>
              <a:off x="7664055" y="577034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1" name="100 Grupo"/>
          <p:cNvGrpSpPr/>
          <p:nvPr userDrawn="1"/>
        </p:nvGrpSpPr>
        <p:grpSpPr>
          <a:xfrm>
            <a:off x="3704065" y="4568550"/>
            <a:ext cx="1566896" cy="1629411"/>
            <a:chOff x="3704065" y="4568550"/>
            <a:chExt cx="1566896" cy="1629411"/>
          </a:xfrm>
        </p:grpSpPr>
        <p:sp>
          <p:nvSpPr>
            <p:cNvPr id="102" name="101 Conector"/>
            <p:cNvSpPr/>
            <p:nvPr userDrawn="1"/>
          </p:nvSpPr>
          <p:spPr>
            <a:xfrm>
              <a:off x="3704065" y="5837961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3" name="102 Conector"/>
            <p:cNvSpPr/>
            <p:nvPr userDrawn="1"/>
          </p:nvSpPr>
          <p:spPr>
            <a:xfrm>
              <a:off x="4112034" y="5416758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4" name="103 Conector"/>
            <p:cNvSpPr/>
            <p:nvPr userDrawn="1"/>
          </p:nvSpPr>
          <p:spPr>
            <a:xfrm>
              <a:off x="4506524" y="4997299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5" name="104 Conector"/>
            <p:cNvSpPr/>
            <p:nvPr userDrawn="1"/>
          </p:nvSpPr>
          <p:spPr>
            <a:xfrm>
              <a:off x="4910961" y="4568550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6" name="105 Grupo"/>
          <p:cNvGrpSpPr/>
          <p:nvPr userDrawn="1"/>
        </p:nvGrpSpPr>
        <p:grpSpPr>
          <a:xfrm>
            <a:off x="894304" y="3428999"/>
            <a:ext cx="816541" cy="849720"/>
            <a:chOff x="894304" y="3428999"/>
            <a:chExt cx="816541" cy="849720"/>
          </a:xfrm>
        </p:grpSpPr>
        <p:sp>
          <p:nvSpPr>
            <p:cNvPr id="107" name="106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8" name="107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9" name="108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0" name="109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1" name="110 Grupo"/>
          <p:cNvGrpSpPr/>
          <p:nvPr userDrawn="1"/>
        </p:nvGrpSpPr>
        <p:grpSpPr>
          <a:xfrm>
            <a:off x="4319704" y="2515102"/>
            <a:ext cx="1553393" cy="1635518"/>
            <a:chOff x="2938823" y="2519805"/>
            <a:chExt cx="1553393" cy="1635518"/>
          </a:xfrm>
        </p:grpSpPr>
        <p:sp>
          <p:nvSpPr>
            <p:cNvPr id="112" name="11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3" name="11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4" name="11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5" name="11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6" name="115 Grupo"/>
          <p:cNvGrpSpPr/>
          <p:nvPr userDrawn="1"/>
        </p:nvGrpSpPr>
        <p:grpSpPr>
          <a:xfrm>
            <a:off x="1285779" y="4472193"/>
            <a:ext cx="807628" cy="845964"/>
            <a:chOff x="1285779" y="4472193"/>
            <a:chExt cx="807628" cy="845964"/>
          </a:xfrm>
        </p:grpSpPr>
        <p:sp>
          <p:nvSpPr>
            <p:cNvPr id="117" name="116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8" name="117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9" name="118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0" name="119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21" name="120 Grupo"/>
          <p:cNvGrpSpPr/>
          <p:nvPr userDrawn="1"/>
        </p:nvGrpSpPr>
        <p:grpSpPr>
          <a:xfrm>
            <a:off x="1590673" y="3428999"/>
            <a:ext cx="816541" cy="849720"/>
            <a:chOff x="894304" y="3428999"/>
            <a:chExt cx="816541" cy="849720"/>
          </a:xfrm>
        </p:grpSpPr>
        <p:sp>
          <p:nvSpPr>
            <p:cNvPr id="122" name="121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3" name="122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4" name="123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5" name="124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1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877" y="2630723"/>
            <a:ext cx="19526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165371" y="1380664"/>
            <a:ext cx="5146854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247355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6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1429966"/>
            <a:ext cx="6530592" cy="1261701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0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55269" y="122261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40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6" name="5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9" name="18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" name="3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18" name="1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0" name="3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10" name="9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0" name="19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9" name="28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7" name="36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14" name="13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3" name="22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0" name="29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9" name="3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11" name="10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1" name="2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6" name="35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15" name="14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4" name="2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8" name="37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13" name="12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2" name="21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5" name="34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16" name="15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5" name="24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4" name="3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2614036" y="5963735"/>
            <a:ext cx="6401865" cy="816496"/>
          </a:xfrm>
          <a:prstGeom prst="rect">
            <a:avLst/>
          </a:prstGeom>
        </p:spPr>
        <p:txBody>
          <a:bodyPr lIns="0" rIns="18288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r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pic>
        <p:nvPicPr>
          <p:cNvPr id="43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 flipH="1">
            <a:off x="1139322" y="5936061"/>
            <a:ext cx="661274" cy="765427"/>
          </a:xfrm>
          <a:prstGeom prst="rect">
            <a:avLst/>
          </a:prstGeom>
        </p:spPr>
      </p:pic>
      <p:pic>
        <p:nvPicPr>
          <p:cNvPr id="44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445751" y="6086561"/>
            <a:ext cx="585938" cy="765428"/>
          </a:xfrm>
          <a:prstGeom prst="rect">
            <a:avLst/>
          </a:prstGeom>
        </p:spPr>
      </p:pic>
      <p:pic>
        <p:nvPicPr>
          <p:cNvPr id="45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 flipH="1">
            <a:off x="135882" y="5327573"/>
            <a:ext cx="678015" cy="636162"/>
          </a:xfrm>
          <a:prstGeom prst="rect">
            <a:avLst/>
          </a:prstGeom>
        </p:spPr>
      </p:pic>
      <p:pic>
        <p:nvPicPr>
          <p:cNvPr id="46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 flipH="1">
            <a:off x="912897" y="5125284"/>
            <a:ext cx="632221" cy="656610"/>
          </a:xfrm>
          <a:prstGeom prst="rect">
            <a:avLst/>
          </a:prstGeom>
        </p:spPr>
      </p:pic>
      <p:pic>
        <p:nvPicPr>
          <p:cNvPr id="47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 flipH="1">
            <a:off x="1592790" y="5103878"/>
            <a:ext cx="762301" cy="678015"/>
          </a:xfrm>
          <a:prstGeom prst="rect">
            <a:avLst/>
          </a:prstGeom>
        </p:spPr>
      </p:pic>
      <p:pic>
        <p:nvPicPr>
          <p:cNvPr id="48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 flipH="1">
            <a:off x="1578301" y="4138562"/>
            <a:ext cx="661273" cy="811329"/>
          </a:xfrm>
          <a:prstGeom prst="rect">
            <a:avLst/>
          </a:prstGeom>
        </p:spPr>
      </p:pic>
      <p:pic>
        <p:nvPicPr>
          <p:cNvPr id="49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 flipH="1">
            <a:off x="758041" y="4458472"/>
            <a:ext cx="736608" cy="645406"/>
          </a:xfrm>
          <a:prstGeom prst="rect">
            <a:avLst/>
          </a:prstGeom>
        </p:spPr>
      </p:pic>
      <p:pic>
        <p:nvPicPr>
          <p:cNvPr id="50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 flipH="1">
            <a:off x="0" y="4478931"/>
            <a:ext cx="606807" cy="741642"/>
          </a:xfrm>
          <a:prstGeom prst="rect">
            <a:avLst/>
          </a:prstGeom>
        </p:spPr>
      </p:pic>
      <p:pic>
        <p:nvPicPr>
          <p:cNvPr id="52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625823" y="3584999"/>
            <a:ext cx="637712" cy="627792"/>
          </a:xfrm>
          <a:prstGeom prst="rect">
            <a:avLst/>
          </a:prstGeom>
        </p:spPr>
      </p:pic>
      <p:pic>
        <p:nvPicPr>
          <p:cNvPr id="53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 flipH="1">
            <a:off x="-25021" y="5936061"/>
            <a:ext cx="468750" cy="734144"/>
          </a:xfrm>
          <a:prstGeom prst="rect">
            <a:avLst/>
          </a:prstGeom>
        </p:spPr>
      </p:pic>
      <p:grpSp>
        <p:nvGrpSpPr>
          <p:cNvPr id="2" name="1 Grupo"/>
          <p:cNvGrpSpPr/>
          <p:nvPr userDrawn="1"/>
        </p:nvGrpSpPr>
        <p:grpSpPr>
          <a:xfrm>
            <a:off x="0" y="3713909"/>
            <a:ext cx="522069" cy="611050"/>
            <a:chOff x="5269565" y="4544227"/>
            <a:chExt cx="522069" cy="611050"/>
          </a:xfrm>
        </p:grpSpPr>
        <p:pic>
          <p:nvPicPr>
            <p:cNvPr id="51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89462" t="33349" r="2752" b="54081"/>
            <a:stretch/>
          </p:blipFill>
          <p:spPr>
            <a:xfrm flipH="1">
              <a:off x="5269565" y="4544227"/>
              <a:ext cx="522069" cy="611050"/>
            </a:xfrm>
            <a:prstGeom prst="rect">
              <a:avLst/>
            </a:prstGeom>
          </p:spPr>
        </p:pic>
        <p:pic>
          <p:nvPicPr>
            <p:cNvPr id="54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91576" t="36284" r="3293" b="56996"/>
            <a:stretch/>
          </p:blipFill>
          <p:spPr>
            <a:xfrm>
              <a:off x="5343045" y="4672836"/>
              <a:ext cx="344032" cy="326669"/>
            </a:xfrm>
            <a:prstGeom prst="rect">
              <a:avLst/>
            </a:prstGeom>
          </p:spPr>
        </p:pic>
      </p:grpSp>
      <p:sp>
        <p:nvSpPr>
          <p:cNvPr id="57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3481461" y="3624399"/>
            <a:ext cx="5525905" cy="700560"/>
          </a:xfrm>
          <a:prstGeom prst="rect">
            <a:avLst/>
          </a:prstGeom>
        </p:spPr>
        <p:txBody>
          <a:bodyPr lIns="45720" rIns="4572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 algn="ctr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533953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337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1058405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740" y="1825625"/>
            <a:ext cx="4184110" cy="4497354"/>
          </a:xfrm>
        </p:spPr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74382" cy="449735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343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84" y="365126"/>
            <a:ext cx="850197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285" y="1681163"/>
            <a:ext cx="41868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285" y="2505075"/>
            <a:ext cx="4186897" cy="381790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1938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93837" cy="381790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1639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9019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90411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3053286"/>
            <a:ext cx="23717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23 Grupo"/>
          <p:cNvGrpSpPr/>
          <p:nvPr userDrawn="1"/>
        </p:nvGrpSpPr>
        <p:grpSpPr>
          <a:xfrm>
            <a:off x="6185954" y="2739986"/>
            <a:ext cx="625428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9" name="28 Grupo"/>
          <p:cNvGrpSpPr/>
          <p:nvPr userDrawn="1"/>
        </p:nvGrpSpPr>
        <p:grpSpPr>
          <a:xfrm>
            <a:off x="6494660" y="3514240"/>
            <a:ext cx="6186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34" name="33 Grupo"/>
          <p:cNvGrpSpPr/>
          <p:nvPr userDrawn="1"/>
        </p:nvGrpSpPr>
        <p:grpSpPr>
          <a:xfrm>
            <a:off x="6694065" y="2739986"/>
            <a:ext cx="625428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6" name="3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3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3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9" name="38 CuadroTexto"/>
          <p:cNvSpPr txBox="1"/>
          <p:nvPr userDrawn="1"/>
        </p:nvSpPr>
        <p:spPr>
          <a:xfrm>
            <a:off x="315662" y="6516115"/>
            <a:ext cx="1581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s-PE" sz="800" b="0" kern="1200" spc="0" baseline="0" dirty="0" smtClean="0">
                <a:solidFill>
                  <a:srgbClr val="9AD3F0"/>
                </a:solidFill>
                <a:latin typeface="Candara" panose="020E0502030303020204" pitchFamily="34" charset="0"/>
                <a:ea typeface="+mn-ea"/>
                <a:cs typeface="+mn-cs"/>
              </a:rPr>
              <a:t>www.cibertec.edu.pe</a:t>
            </a:r>
          </a:p>
        </p:txBody>
      </p:sp>
      <p:graphicFrame>
        <p:nvGraphicFramePr>
          <p:cNvPr id="3" name="2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0195082"/>
              </p:ext>
            </p:extLst>
          </p:nvPr>
        </p:nvGraphicFramePr>
        <p:xfrm>
          <a:off x="165370" y="4755775"/>
          <a:ext cx="88132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93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978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0331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MIRAFLORES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Diez Canseco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Cdra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2 / Pasaje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Tello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Miraflores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INDEPENDENCIA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Carlos Izaguirre 233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Independencia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BREÑA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Brasil 714 – 792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La Rambla – Piso 3)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Breña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TRUJILLO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Borgoño 361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Trujillo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(044) 60-2000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JUAN DE LURIGANCHO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Próceres de la Independencia 3023-3043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Juan de Lurigancho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MIGUEL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Federico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Gallese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847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Miguel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632-4900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BELLAVISTA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Mariscal Oscar R.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Benvides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3866 – 4070 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Bellavista – Callao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AREQUIPA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Porongoche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500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</a:p>
                    <a:p>
                      <a:pPr algn="ctr"/>
                      <a:r>
                        <a:rPr lang="es-PE" sz="900" baseline="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Paucarpata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- Arequipa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(054) 60-3535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517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1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3" y="263769"/>
            <a:ext cx="5826680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3771" y="5938345"/>
            <a:ext cx="5835474" cy="830317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68805" y="61380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20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3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089960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35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85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35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85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4350"/>
                            </p:stCondLst>
                            <p:childTnLst>
                              <p:par>
                                <p:cTn id="19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2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2759" y="5982631"/>
            <a:ext cx="6399945" cy="85340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/>
          <a:srcRect r="39262"/>
          <a:stretch/>
        </p:blipFill>
        <p:spPr>
          <a:xfrm>
            <a:off x="344140" y="4761186"/>
            <a:ext cx="1951588" cy="409124"/>
          </a:xfrm>
          <a:prstGeom prst="rect">
            <a:avLst/>
          </a:prstGeom>
        </p:spPr>
      </p:pic>
      <p:pic>
        <p:nvPicPr>
          <p:cNvPr id="9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2" y="263769"/>
            <a:ext cx="7077807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20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497973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3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http://imagenes.universia.net/gc/net/images/universidades/c/ca/car/carrusel-ciberte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7" y="3717433"/>
            <a:ext cx="4347846" cy="208596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45732"/>
            <a:ext cx="6469829" cy="1572986"/>
          </a:xfr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9" name="48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53" name="5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5" name="5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6" name="5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57" name="56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9" name="58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0" name="5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61" name="60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3" name="62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4" name="63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65" name="64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7" name="66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8" name="67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9" name="68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1" name="7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2" name="71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73" name="72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5" name="74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6" name="75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77" name="76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8" name="77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9" name="78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0" name="79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81" name="80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2" name="81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86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87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88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9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90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91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92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93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94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95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714896" y="6025189"/>
            <a:ext cx="5947807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  <p:sp>
        <p:nvSpPr>
          <p:cNvPr id="96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632816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4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  <p:pic>
        <p:nvPicPr>
          <p:cNvPr id="2050" name="Picture 2" descr="http://www.movistar.com.pe/documents/10182/1119302/png_bannerD_cibertec.png/a4030f5d-7f46-48fa-99b0-66f25ff07bc9?t=142567872038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37" y="3830464"/>
            <a:ext cx="2967324" cy="1944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20110"/>
            <a:ext cx="6469829" cy="1606787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2" name="41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43" name="4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4" name="4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5" name="4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6" name="4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48" name="4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9" name="48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0" name="49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1" name="50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52" name="51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3" name="52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5" name="54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56" name="55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7" name="56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9" name="5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0" name="59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1" name="6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3" name="62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64" name="63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5" name="64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7" name="66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68" name="67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9" name="68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1" name="70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72" name="71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3" name="72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75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76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77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78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79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0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81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82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83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86" name="16 Subtítulo"/>
          <p:cNvSpPr>
            <a:spLocks noGrp="1"/>
          </p:cNvSpPr>
          <p:nvPr>
            <p:ph type="subTitle" idx="10" hasCustomPrompt="1"/>
          </p:nvPr>
        </p:nvSpPr>
        <p:spPr>
          <a:xfrm>
            <a:off x="712137" y="6025189"/>
            <a:ext cx="5867340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725159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/>
      <p:bldP spid="8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5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179512" y="188640"/>
            <a:ext cx="5133614" cy="1152128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6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179512" y="6025189"/>
            <a:ext cx="8740752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  <p:grpSp>
        <p:nvGrpSpPr>
          <p:cNvPr id="81" name="80 Grupo"/>
          <p:cNvGrpSpPr/>
          <p:nvPr userDrawn="1"/>
        </p:nvGrpSpPr>
        <p:grpSpPr>
          <a:xfrm>
            <a:off x="6608811" y="4651274"/>
            <a:ext cx="1549294" cy="1605566"/>
            <a:chOff x="6608811" y="4651274"/>
            <a:chExt cx="1549294" cy="1605566"/>
          </a:xfrm>
        </p:grpSpPr>
        <p:sp>
          <p:nvSpPr>
            <p:cNvPr id="82" name="81 Conector"/>
            <p:cNvSpPr/>
            <p:nvPr userDrawn="1"/>
          </p:nvSpPr>
          <p:spPr>
            <a:xfrm>
              <a:off x="7798105" y="465127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7393222" y="506294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4" name="83 Conector"/>
            <p:cNvSpPr/>
            <p:nvPr userDrawn="1"/>
          </p:nvSpPr>
          <p:spPr>
            <a:xfrm>
              <a:off x="7020758" y="548733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5" name="84 Conector"/>
            <p:cNvSpPr/>
            <p:nvPr userDrawn="1"/>
          </p:nvSpPr>
          <p:spPr>
            <a:xfrm>
              <a:off x="6608811" y="589684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6" name="85 Grupo"/>
          <p:cNvGrpSpPr/>
          <p:nvPr userDrawn="1"/>
        </p:nvGrpSpPr>
        <p:grpSpPr>
          <a:xfrm>
            <a:off x="5090961" y="577034"/>
            <a:ext cx="1560466" cy="1647949"/>
            <a:chOff x="5090961" y="577034"/>
            <a:chExt cx="1560466" cy="1647949"/>
          </a:xfrm>
        </p:grpSpPr>
        <p:sp>
          <p:nvSpPr>
            <p:cNvPr id="87" name="86 Conector"/>
            <p:cNvSpPr/>
            <p:nvPr userDrawn="1"/>
          </p:nvSpPr>
          <p:spPr>
            <a:xfrm>
              <a:off x="6291427" y="57703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8" name="87 Conector"/>
            <p:cNvSpPr/>
            <p:nvPr userDrawn="1"/>
          </p:nvSpPr>
          <p:spPr>
            <a:xfrm>
              <a:off x="5873097" y="100389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9" name="88 Conector"/>
            <p:cNvSpPr/>
            <p:nvPr userDrawn="1"/>
          </p:nvSpPr>
          <p:spPr>
            <a:xfrm>
              <a:off x="5479405" y="142858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0" name="89 Conector"/>
            <p:cNvSpPr/>
            <p:nvPr userDrawn="1"/>
          </p:nvSpPr>
          <p:spPr>
            <a:xfrm>
              <a:off x="5090961" y="186498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1" name="90 Grupo"/>
          <p:cNvGrpSpPr/>
          <p:nvPr userDrawn="1"/>
        </p:nvGrpSpPr>
        <p:grpSpPr>
          <a:xfrm>
            <a:off x="2938823" y="2519805"/>
            <a:ext cx="1553393" cy="1635518"/>
            <a:chOff x="2938823" y="2519805"/>
            <a:chExt cx="1553393" cy="1635518"/>
          </a:xfrm>
        </p:grpSpPr>
        <p:sp>
          <p:nvSpPr>
            <p:cNvPr id="92" name="9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3" name="9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4" name="9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5" name="9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6" name="95 Grupo"/>
          <p:cNvGrpSpPr/>
          <p:nvPr userDrawn="1"/>
        </p:nvGrpSpPr>
        <p:grpSpPr>
          <a:xfrm>
            <a:off x="6471427" y="577034"/>
            <a:ext cx="1552628" cy="1633593"/>
            <a:chOff x="6471427" y="577034"/>
            <a:chExt cx="1552628" cy="1633593"/>
          </a:xfrm>
        </p:grpSpPr>
        <p:sp>
          <p:nvSpPr>
            <p:cNvPr id="97" name="96 Conector"/>
            <p:cNvSpPr/>
            <p:nvPr userDrawn="1"/>
          </p:nvSpPr>
          <p:spPr>
            <a:xfrm>
              <a:off x="6471427" y="1850627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8" name="97 Conector"/>
            <p:cNvSpPr/>
            <p:nvPr userDrawn="1"/>
          </p:nvSpPr>
          <p:spPr>
            <a:xfrm>
              <a:off x="6864802" y="1415699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9" name="98 Conector"/>
            <p:cNvSpPr/>
            <p:nvPr userDrawn="1"/>
          </p:nvSpPr>
          <p:spPr>
            <a:xfrm>
              <a:off x="7258833" y="1016570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0" name="99 Conector"/>
            <p:cNvSpPr/>
            <p:nvPr userDrawn="1"/>
          </p:nvSpPr>
          <p:spPr>
            <a:xfrm>
              <a:off x="7664055" y="577034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1" name="100 Grupo"/>
          <p:cNvGrpSpPr/>
          <p:nvPr userDrawn="1"/>
        </p:nvGrpSpPr>
        <p:grpSpPr>
          <a:xfrm>
            <a:off x="3704065" y="4568550"/>
            <a:ext cx="1566896" cy="1629411"/>
            <a:chOff x="3704065" y="4568550"/>
            <a:chExt cx="1566896" cy="1629411"/>
          </a:xfrm>
        </p:grpSpPr>
        <p:sp>
          <p:nvSpPr>
            <p:cNvPr id="102" name="101 Conector"/>
            <p:cNvSpPr/>
            <p:nvPr userDrawn="1"/>
          </p:nvSpPr>
          <p:spPr>
            <a:xfrm>
              <a:off x="3704065" y="5837961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3" name="102 Conector"/>
            <p:cNvSpPr/>
            <p:nvPr userDrawn="1"/>
          </p:nvSpPr>
          <p:spPr>
            <a:xfrm>
              <a:off x="4112034" y="5416758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4" name="103 Conector"/>
            <p:cNvSpPr/>
            <p:nvPr userDrawn="1"/>
          </p:nvSpPr>
          <p:spPr>
            <a:xfrm>
              <a:off x="4506524" y="4997299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5" name="104 Conector"/>
            <p:cNvSpPr/>
            <p:nvPr userDrawn="1"/>
          </p:nvSpPr>
          <p:spPr>
            <a:xfrm>
              <a:off x="4910961" y="4568550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6" name="105 Grupo"/>
          <p:cNvGrpSpPr/>
          <p:nvPr userDrawn="1"/>
        </p:nvGrpSpPr>
        <p:grpSpPr>
          <a:xfrm>
            <a:off x="894304" y="3428999"/>
            <a:ext cx="816541" cy="849720"/>
            <a:chOff x="894304" y="3428999"/>
            <a:chExt cx="816541" cy="849720"/>
          </a:xfrm>
        </p:grpSpPr>
        <p:sp>
          <p:nvSpPr>
            <p:cNvPr id="107" name="106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8" name="107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9" name="108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0" name="109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1" name="110 Grupo"/>
          <p:cNvGrpSpPr/>
          <p:nvPr userDrawn="1"/>
        </p:nvGrpSpPr>
        <p:grpSpPr>
          <a:xfrm>
            <a:off x="4319704" y="2515102"/>
            <a:ext cx="1553393" cy="1635518"/>
            <a:chOff x="2938823" y="2519805"/>
            <a:chExt cx="1553393" cy="1635518"/>
          </a:xfrm>
        </p:grpSpPr>
        <p:sp>
          <p:nvSpPr>
            <p:cNvPr id="112" name="11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3" name="11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4" name="11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5" name="11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6" name="115 Grupo"/>
          <p:cNvGrpSpPr/>
          <p:nvPr userDrawn="1"/>
        </p:nvGrpSpPr>
        <p:grpSpPr>
          <a:xfrm>
            <a:off x="1285779" y="4472193"/>
            <a:ext cx="807628" cy="845964"/>
            <a:chOff x="1285779" y="4472193"/>
            <a:chExt cx="807628" cy="845964"/>
          </a:xfrm>
        </p:grpSpPr>
        <p:sp>
          <p:nvSpPr>
            <p:cNvPr id="117" name="116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8" name="117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9" name="118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0" name="119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21" name="120 Grupo"/>
          <p:cNvGrpSpPr/>
          <p:nvPr userDrawn="1"/>
        </p:nvGrpSpPr>
        <p:grpSpPr>
          <a:xfrm>
            <a:off x="1590673" y="3428999"/>
            <a:ext cx="816541" cy="849720"/>
            <a:chOff x="894304" y="3428999"/>
            <a:chExt cx="816541" cy="849720"/>
          </a:xfrm>
        </p:grpSpPr>
        <p:sp>
          <p:nvSpPr>
            <p:cNvPr id="122" name="121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3" name="122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4" name="123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5" name="124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1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877" y="2630723"/>
            <a:ext cx="19526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165371" y="1380664"/>
            <a:ext cx="5146854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793410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6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1429966"/>
            <a:ext cx="6530592" cy="1261701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0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55269" y="122261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40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6" name="5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9" name="18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" name="3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18" name="1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0" name="3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10" name="9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0" name="19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9" name="28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7" name="36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14" name="13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3" name="22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0" name="29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9" name="3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11" name="10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1" name="2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6" name="35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15" name="14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4" name="2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8" name="37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13" name="12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2" name="21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5" name="34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16" name="15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5" name="24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4" name="3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2496309" y="5963735"/>
            <a:ext cx="6519592" cy="816496"/>
          </a:xfrm>
          <a:prstGeom prst="rect">
            <a:avLst/>
          </a:prstGeom>
        </p:spPr>
        <p:txBody>
          <a:bodyPr lIns="0" rIns="18288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r">
              <a:spcBef>
                <a:spcPts val="0"/>
              </a:spcBef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pic>
        <p:nvPicPr>
          <p:cNvPr id="43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 flipH="1">
            <a:off x="1139322" y="5936061"/>
            <a:ext cx="661274" cy="765427"/>
          </a:xfrm>
          <a:prstGeom prst="rect">
            <a:avLst/>
          </a:prstGeom>
        </p:spPr>
      </p:pic>
      <p:pic>
        <p:nvPicPr>
          <p:cNvPr id="44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445751" y="6086561"/>
            <a:ext cx="585938" cy="765428"/>
          </a:xfrm>
          <a:prstGeom prst="rect">
            <a:avLst/>
          </a:prstGeom>
        </p:spPr>
      </p:pic>
      <p:pic>
        <p:nvPicPr>
          <p:cNvPr id="45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 flipH="1">
            <a:off x="135882" y="5327573"/>
            <a:ext cx="678015" cy="636162"/>
          </a:xfrm>
          <a:prstGeom prst="rect">
            <a:avLst/>
          </a:prstGeom>
        </p:spPr>
      </p:pic>
      <p:pic>
        <p:nvPicPr>
          <p:cNvPr id="46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 flipH="1">
            <a:off x="912897" y="5125284"/>
            <a:ext cx="632221" cy="656610"/>
          </a:xfrm>
          <a:prstGeom prst="rect">
            <a:avLst/>
          </a:prstGeom>
        </p:spPr>
      </p:pic>
      <p:pic>
        <p:nvPicPr>
          <p:cNvPr id="47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 flipH="1">
            <a:off x="1592790" y="5103878"/>
            <a:ext cx="762301" cy="678015"/>
          </a:xfrm>
          <a:prstGeom prst="rect">
            <a:avLst/>
          </a:prstGeom>
        </p:spPr>
      </p:pic>
      <p:pic>
        <p:nvPicPr>
          <p:cNvPr id="48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 flipH="1">
            <a:off x="1578301" y="4138562"/>
            <a:ext cx="661273" cy="811329"/>
          </a:xfrm>
          <a:prstGeom prst="rect">
            <a:avLst/>
          </a:prstGeom>
        </p:spPr>
      </p:pic>
      <p:pic>
        <p:nvPicPr>
          <p:cNvPr id="49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 flipH="1">
            <a:off x="758041" y="4458472"/>
            <a:ext cx="736608" cy="645406"/>
          </a:xfrm>
          <a:prstGeom prst="rect">
            <a:avLst/>
          </a:prstGeom>
        </p:spPr>
      </p:pic>
      <p:pic>
        <p:nvPicPr>
          <p:cNvPr id="50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 flipH="1">
            <a:off x="0" y="4478931"/>
            <a:ext cx="606807" cy="741642"/>
          </a:xfrm>
          <a:prstGeom prst="rect">
            <a:avLst/>
          </a:prstGeom>
        </p:spPr>
      </p:pic>
      <p:pic>
        <p:nvPicPr>
          <p:cNvPr id="52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625823" y="3584999"/>
            <a:ext cx="637712" cy="627792"/>
          </a:xfrm>
          <a:prstGeom prst="rect">
            <a:avLst/>
          </a:prstGeom>
        </p:spPr>
      </p:pic>
      <p:pic>
        <p:nvPicPr>
          <p:cNvPr id="53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 flipH="1">
            <a:off x="-25021" y="5936061"/>
            <a:ext cx="468750" cy="734144"/>
          </a:xfrm>
          <a:prstGeom prst="rect">
            <a:avLst/>
          </a:prstGeom>
        </p:spPr>
      </p:pic>
      <p:grpSp>
        <p:nvGrpSpPr>
          <p:cNvPr id="2" name="1 Grupo"/>
          <p:cNvGrpSpPr/>
          <p:nvPr userDrawn="1"/>
        </p:nvGrpSpPr>
        <p:grpSpPr>
          <a:xfrm>
            <a:off x="0" y="3713909"/>
            <a:ext cx="522069" cy="611050"/>
            <a:chOff x="5269565" y="4544227"/>
            <a:chExt cx="522069" cy="611050"/>
          </a:xfrm>
        </p:grpSpPr>
        <p:pic>
          <p:nvPicPr>
            <p:cNvPr id="51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89462" t="33349" r="2752" b="54081"/>
            <a:stretch/>
          </p:blipFill>
          <p:spPr>
            <a:xfrm flipH="1">
              <a:off x="5269565" y="4544227"/>
              <a:ext cx="522069" cy="611050"/>
            </a:xfrm>
            <a:prstGeom prst="rect">
              <a:avLst/>
            </a:prstGeom>
          </p:spPr>
        </p:pic>
        <p:pic>
          <p:nvPicPr>
            <p:cNvPr id="54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91576" t="36284" r="3293" b="56996"/>
            <a:stretch/>
          </p:blipFill>
          <p:spPr>
            <a:xfrm>
              <a:off x="5343045" y="4672836"/>
              <a:ext cx="344032" cy="326669"/>
            </a:xfrm>
            <a:prstGeom prst="rect">
              <a:avLst/>
            </a:prstGeom>
          </p:spPr>
        </p:pic>
      </p:grpSp>
      <p:sp>
        <p:nvSpPr>
          <p:cNvPr id="57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3481461" y="3624399"/>
            <a:ext cx="5525905" cy="700560"/>
          </a:xfrm>
          <a:prstGeom prst="rect">
            <a:avLst/>
          </a:prstGeom>
        </p:spPr>
        <p:txBody>
          <a:bodyPr lIns="45720" rIns="4572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 algn="ctr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72112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00"/>
                            </p:stCondLst>
                            <p:childTnLst>
                              <p:par>
                                <p:cTn id="6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200"/>
                            </p:stCondLst>
                            <p:childTnLst>
                              <p:par>
                                <p:cTn id="9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200"/>
                            </p:stCondLst>
                            <p:childTnLst>
                              <p:par>
                                <p:cTn id="10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1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/>
              </a:buBlip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848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805982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740" y="1825625"/>
            <a:ext cx="4184110" cy="449735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74382" cy="449735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579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84" y="365126"/>
            <a:ext cx="850197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285" y="1681163"/>
            <a:ext cx="41868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285" y="2505075"/>
            <a:ext cx="4186897" cy="381790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1938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93837" cy="381790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65471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239227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943799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3053286"/>
            <a:ext cx="23717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23 Grupo"/>
          <p:cNvGrpSpPr/>
          <p:nvPr userDrawn="1"/>
        </p:nvGrpSpPr>
        <p:grpSpPr>
          <a:xfrm>
            <a:off x="6185954" y="2739986"/>
            <a:ext cx="625428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9" name="28 Grupo"/>
          <p:cNvGrpSpPr/>
          <p:nvPr userDrawn="1"/>
        </p:nvGrpSpPr>
        <p:grpSpPr>
          <a:xfrm>
            <a:off x="6494660" y="3514240"/>
            <a:ext cx="6186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34" name="33 Grupo"/>
          <p:cNvGrpSpPr/>
          <p:nvPr userDrawn="1"/>
        </p:nvGrpSpPr>
        <p:grpSpPr>
          <a:xfrm>
            <a:off x="6694065" y="2739986"/>
            <a:ext cx="625428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6" name="3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3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3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9" name="38 CuadroTexto"/>
          <p:cNvSpPr txBox="1"/>
          <p:nvPr userDrawn="1"/>
        </p:nvSpPr>
        <p:spPr>
          <a:xfrm>
            <a:off x="315662" y="6516115"/>
            <a:ext cx="1581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s-PE" sz="800" b="0" kern="1200" spc="0" baseline="0" dirty="0" smtClean="0">
                <a:solidFill>
                  <a:srgbClr val="9AD3F0"/>
                </a:solidFill>
                <a:latin typeface="Candara" panose="020E0502030303020204" pitchFamily="34" charset="0"/>
                <a:ea typeface="+mn-ea"/>
                <a:cs typeface="+mn-cs"/>
              </a:rPr>
              <a:t>www.cibertec.edu.pe</a:t>
            </a:r>
          </a:p>
        </p:txBody>
      </p:sp>
      <p:graphicFrame>
        <p:nvGraphicFramePr>
          <p:cNvPr id="3" name="2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54479143"/>
              </p:ext>
            </p:extLst>
          </p:nvPr>
        </p:nvGraphicFramePr>
        <p:xfrm>
          <a:off x="165370" y="4755775"/>
          <a:ext cx="88132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93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978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0331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MIRAFLORES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Diez Canseco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Cdra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2 / Pasaje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Tello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Miraflores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INDEPENDENCIA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Carlos Izaguirre 233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Independencia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BREÑA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Brasil 714 – 792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La Rambla – Piso 3)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Breña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TRUJILLO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Borgoño 361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Trujillo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(044) 60-2000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JUAN DE LURIGANCHO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Próceres de la Independencia 3023-3043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Juan de Lurigancho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MIGUEL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Federico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Gallese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847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Miguel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632-4900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BELLAVISTA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Mariscal Oscar R.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Benvides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3866 – 4070 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Bellavista – Callao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AREQUIPA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Porongoche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500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</a:p>
                    <a:p>
                      <a:pPr algn="ctr"/>
                      <a:r>
                        <a:rPr lang="es-PE" sz="900" baseline="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Paucarpata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- Arequipa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(054) 60-3535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579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740" y="365126"/>
            <a:ext cx="8450188" cy="938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Clic para modificar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740" y="1361872"/>
            <a:ext cx="8450188" cy="4961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grpSp>
        <p:nvGrpSpPr>
          <p:cNvPr id="15" name="14 Grupo"/>
          <p:cNvGrpSpPr/>
          <p:nvPr userDrawn="1"/>
        </p:nvGrpSpPr>
        <p:grpSpPr>
          <a:xfrm>
            <a:off x="29320" y="6437487"/>
            <a:ext cx="9097125" cy="428625"/>
            <a:chOff x="2" y="6428064"/>
            <a:chExt cx="9097125" cy="428625"/>
          </a:xfrm>
        </p:grpSpPr>
        <p:sp>
          <p:nvSpPr>
            <p:cNvPr id="8" name="7 Conector"/>
            <p:cNvSpPr/>
            <p:nvPr userDrawn="1"/>
          </p:nvSpPr>
          <p:spPr>
            <a:xfrm>
              <a:off x="8186028" y="6512623"/>
              <a:ext cx="289628" cy="289628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8 Conector"/>
            <p:cNvSpPr/>
            <p:nvPr userDrawn="1"/>
          </p:nvSpPr>
          <p:spPr>
            <a:xfrm>
              <a:off x="8496764" y="6512772"/>
              <a:ext cx="289628" cy="289628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9 Conector"/>
            <p:cNvSpPr/>
            <p:nvPr userDrawn="1"/>
          </p:nvSpPr>
          <p:spPr>
            <a:xfrm>
              <a:off x="8807499" y="6512772"/>
              <a:ext cx="289628" cy="289628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/>
            <a:lstStyle/>
            <a:p>
              <a:pPr algn="ctr"/>
              <a:endParaRPr lang="es-PE"/>
            </a:p>
          </p:txBody>
        </p:sp>
        <p:sp>
          <p:nvSpPr>
            <p:cNvPr id="12" name="11 Conector"/>
            <p:cNvSpPr/>
            <p:nvPr userDrawn="1"/>
          </p:nvSpPr>
          <p:spPr>
            <a:xfrm>
              <a:off x="7885020" y="6512623"/>
              <a:ext cx="289628" cy="289628"/>
            </a:xfrm>
            <a:prstGeom prst="flowChartConnector">
              <a:avLst/>
            </a:prstGeom>
            <a:solidFill>
              <a:srgbClr val="014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943754" y="6549001"/>
              <a:ext cx="172160" cy="217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 userDrawn="1"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11791"/>
            <a:stretch/>
          </p:blipFill>
          <p:spPr bwMode="auto">
            <a:xfrm>
              <a:off x="2" y="6428064"/>
              <a:ext cx="784400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5"/>
          <p:cNvGrpSpPr>
            <a:grpSpLocks noChangeAspect="1"/>
          </p:cNvGrpSpPr>
          <p:nvPr userDrawn="1"/>
        </p:nvGrpSpPr>
        <p:grpSpPr bwMode="auto">
          <a:xfrm>
            <a:off x="0" y="22917"/>
            <a:ext cx="9144000" cy="45719"/>
            <a:chOff x="0" y="0"/>
            <a:chExt cx="3885" cy="355"/>
          </a:xfrm>
        </p:grpSpPr>
        <p:sp>
          <p:nvSpPr>
            <p:cNvPr id="1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3885" cy="355"/>
            </a:xfrm>
            <a:prstGeom prst="rect">
              <a:avLst/>
            </a:prstGeom>
            <a:solidFill>
              <a:srgbClr val="0175B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6"/>
            <p:cNvSpPr>
              <a:spLocks/>
            </p:cNvSpPr>
            <p:nvPr userDrawn="1"/>
          </p:nvSpPr>
          <p:spPr bwMode="auto">
            <a:xfrm>
              <a:off x="0" y="-16"/>
              <a:ext cx="3889" cy="424"/>
            </a:xfrm>
            <a:custGeom>
              <a:avLst/>
              <a:gdLst>
                <a:gd name="T0" fmla="*/ 0 w 9598"/>
                <a:gd name="T1" fmla="*/ 79 h 79"/>
                <a:gd name="T2" fmla="*/ 0 w 9598"/>
                <a:gd name="T3" fmla="*/ 79 h 79"/>
                <a:gd name="T4" fmla="*/ 9598 w 9598"/>
                <a:gd name="T5" fmla="*/ 79 h 79"/>
                <a:gd name="T6" fmla="*/ 9598 w 9598"/>
                <a:gd name="T7" fmla="*/ 0 h 79"/>
                <a:gd name="T8" fmla="*/ 0 w 9598"/>
                <a:gd name="T9" fmla="*/ 0 h 79"/>
                <a:gd name="T10" fmla="*/ 0 w 9598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98" h="79">
                  <a:moveTo>
                    <a:pt x="0" y="79"/>
                  </a:moveTo>
                  <a:lnTo>
                    <a:pt x="0" y="79"/>
                  </a:lnTo>
                  <a:lnTo>
                    <a:pt x="9598" y="79"/>
                  </a:lnTo>
                  <a:lnTo>
                    <a:pt x="9598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2AD2A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7"/>
            <p:cNvSpPr>
              <a:spLocks/>
            </p:cNvSpPr>
            <p:nvPr userDrawn="1"/>
          </p:nvSpPr>
          <p:spPr bwMode="auto">
            <a:xfrm>
              <a:off x="3153" y="-16"/>
              <a:ext cx="736" cy="424"/>
            </a:xfrm>
            <a:custGeom>
              <a:avLst/>
              <a:gdLst>
                <a:gd name="T0" fmla="*/ 0 w 1815"/>
                <a:gd name="T1" fmla="*/ 79 h 79"/>
                <a:gd name="T2" fmla="*/ 0 w 1815"/>
                <a:gd name="T3" fmla="*/ 79 h 79"/>
                <a:gd name="T4" fmla="*/ 1815 w 1815"/>
                <a:gd name="T5" fmla="*/ 79 h 79"/>
                <a:gd name="T6" fmla="*/ 1815 w 1815"/>
                <a:gd name="T7" fmla="*/ 0 h 79"/>
                <a:gd name="T8" fmla="*/ 0 w 1815"/>
                <a:gd name="T9" fmla="*/ 0 h 79"/>
                <a:gd name="T10" fmla="*/ 0 w 1815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5" h="79">
                  <a:moveTo>
                    <a:pt x="0" y="79"/>
                  </a:moveTo>
                  <a:lnTo>
                    <a:pt x="0" y="79"/>
                  </a:lnTo>
                  <a:lnTo>
                    <a:pt x="1815" y="79"/>
                  </a:lnTo>
                  <a:lnTo>
                    <a:pt x="1815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9AA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8"/>
            <p:cNvSpPr>
              <a:spLocks/>
            </p:cNvSpPr>
            <p:nvPr userDrawn="1"/>
          </p:nvSpPr>
          <p:spPr bwMode="auto">
            <a:xfrm>
              <a:off x="2341" y="-16"/>
              <a:ext cx="812" cy="424"/>
            </a:xfrm>
            <a:custGeom>
              <a:avLst/>
              <a:gdLst>
                <a:gd name="T0" fmla="*/ 0 w 2004"/>
                <a:gd name="T1" fmla="*/ 79 h 79"/>
                <a:gd name="T2" fmla="*/ 0 w 2004"/>
                <a:gd name="T3" fmla="*/ 79 h 79"/>
                <a:gd name="T4" fmla="*/ 2004 w 2004"/>
                <a:gd name="T5" fmla="*/ 79 h 79"/>
                <a:gd name="T6" fmla="*/ 2004 w 2004"/>
                <a:gd name="T7" fmla="*/ 0 h 79"/>
                <a:gd name="T8" fmla="*/ 0 w 2004"/>
                <a:gd name="T9" fmla="*/ 0 h 79"/>
                <a:gd name="T10" fmla="*/ 0 w 200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4" h="79">
                  <a:moveTo>
                    <a:pt x="0" y="79"/>
                  </a:moveTo>
                  <a:lnTo>
                    <a:pt x="0" y="79"/>
                  </a:lnTo>
                  <a:lnTo>
                    <a:pt x="2004" y="79"/>
                  </a:lnTo>
                  <a:lnTo>
                    <a:pt x="200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ABE2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9"/>
            <p:cNvSpPr>
              <a:spLocks/>
            </p:cNvSpPr>
            <p:nvPr userDrawn="1"/>
          </p:nvSpPr>
          <p:spPr bwMode="auto">
            <a:xfrm>
              <a:off x="0" y="-16"/>
              <a:ext cx="2341" cy="424"/>
            </a:xfrm>
            <a:custGeom>
              <a:avLst/>
              <a:gdLst>
                <a:gd name="T0" fmla="*/ 0 w 5779"/>
                <a:gd name="T1" fmla="*/ 79 h 79"/>
                <a:gd name="T2" fmla="*/ 0 w 5779"/>
                <a:gd name="T3" fmla="*/ 79 h 79"/>
                <a:gd name="T4" fmla="*/ 5779 w 5779"/>
                <a:gd name="T5" fmla="*/ 79 h 79"/>
                <a:gd name="T6" fmla="*/ 5779 w 5779"/>
                <a:gd name="T7" fmla="*/ 0 h 79"/>
                <a:gd name="T8" fmla="*/ 0 w 5779"/>
                <a:gd name="T9" fmla="*/ 0 h 79"/>
                <a:gd name="T10" fmla="*/ 0 w 5779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79" h="79">
                  <a:moveTo>
                    <a:pt x="0" y="79"/>
                  </a:moveTo>
                  <a:lnTo>
                    <a:pt x="0" y="79"/>
                  </a:lnTo>
                  <a:lnTo>
                    <a:pt x="5779" y="79"/>
                  </a:lnTo>
                  <a:lnTo>
                    <a:pt x="5779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175B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3" name="17 Marcador de número de diapositiva"/>
          <p:cNvSpPr txBox="1">
            <a:spLocks/>
          </p:cNvSpPr>
          <p:nvPr userDrawn="1"/>
        </p:nvSpPr>
        <p:spPr>
          <a:xfrm>
            <a:off x="8808649" y="6522307"/>
            <a:ext cx="353404" cy="293750"/>
          </a:xfrm>
          <a:prstGeom prst="rect">
            <a:avLst/>
          </a:prstGeom>
        </p:spPr>
        <p:txBody>
          <a:bodyPr vert="horz" lIns="0" tIns="0" rIns="0" bIns="0" anchor="ctr"/>
          <a:lstStyle>
            <a:defPPr>
              <a:defRPr lang="es-PE"/>
            </a:defPPr>
            <a:lvl1pPr marL="0" algn="ctr" defTabSz="914400" rtl="0" eaLnBrk="1" latinLnBrk="0" hangingPunct="1">
              <a:defRPr kumimoji="0" sz="1000" kern="1200">
                <a:solidFill>
                  <a:srgbClr val="0141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954FDE-E8EE-41BC-A48D-B00D0284F92A}" type="slidenum">
              <a:rPr lang="es-PE" b="0" smtClean="0">
                <a:solidFill>
                  <a:schemeClr val="bg1"/>
                </a:solidFill>
              </a:rPr>
              <a:pPr/>
              <a:t>‹Nº›</a:t>
            </a:fld>
            <a:endParaRPr lang="es-PE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78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6" r:id="rId2"/>
    <p:sldLayoutId id="2147483742" r:id="rId3"/>
    <p:sldLayoutId id="2147483743" r:id="rId4"/>
    <p:sldLayoutId id="2147483744" r:id="rId5"/>
    <p:sldLayoutId id="2147483745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721" r:id="rId13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740" y="365126"/>
            <a:ext cx="8450188" cy="92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Clic para modificar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740" y="1361872"/>
            <a:ext cx="8450188" cy="4961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grpSp>
        <p:nvGrpSpPr>
          <p:cNvPr id="16" name="Group 5"/>
          <p:cNvGrpSpPr>
            <a:grpSpLocks noChangeAspect="1"/>
          </p:cNvGrpSpPr>
          <p:nvPr userDrawn="1"/>
        </p:nvGrpSpPr>
        <p:grpSpPr bwMode="auto">
          <a:xfrm>
            <a:off x="0" y="22917"/>
            <a:ext cx="9144000" cy="45719"/>
            <a:chOff x="0" y="0"/>
            <a:chExt cx="3885" cy="355"/>
          </a:xfrm>
        </p:grpSpPr>
        <p:sp>
          <p:nvSpPr>
            <p:cNvPr id="1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3885" cy="355"/>
            </a:xfrm>
            <a:prstGeom prst="rect">
              <a:avLst/>
            </a:prstGeom>
            <a:solidFill>
              <a:srgbClr val="0175B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6"/>
            <p:cNvSpPr>
              <a:spLocks/>
            </p:cNvSpPr>
            <p:nvPr userDrawn="1"/>
          </p:nvSpPr>
          <p:spPr bwMode="auto">
            <a:xfrm>
              <a:off x="0" y="-16"/>
              <a:ext cx="3889" cy="424"/>
            </a:xfrm>
            <a:custGeom>
              <a:avLst/>
              <a:gdLst>
                <a:gd name="T0" fmla="*/ 0 w 9598"/>
                <a:gd name="T1" fmla="*/ 79 h 79"/>
                <a:gd name="T2" fmla="*/ 0 w 9598"/>
                <a:gd name="T3" fmla="*/ 79 h 79"/>
                <a:gd name="T4" fmla="*/ 9598 w 9598"/>
                <a:gd name="T5" fmla="*/ 79 h 79"/>
                <a:gd name="T6" fmla="*/ 9598 w 9598"/>
                <a:gd name="T7" fmla="*/ 0 h 79"/>
                <a:gd name="T8" fmla="*/ 0 w 9598"/>
                <a:gd name="T9" fmla="*/ 0 h 79"/>
                <a:gd name="T10" fmla="*/ 0 w 9598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98" h="79">
                  <a:moveTo>
                    <a:pt x="0" y="79"/>
                  </a:moveTo>
                  <a:lnTo>
                    <a:pt x="0" y="79"/>
                  </a:lnTo>
                  <a:lnTo>
                    <a:pt x="9598" y="79"/>
                  </a:lnTo>
                  <a:lnTo>
                    <a:pt x="9598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2AD2A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7"/>
            <p:cNvSpPr>
              <a:spLocks/>
            </p:cNvSpPr>
            <p:nvPr userDrawn="1"/>
          </p:nvSpPr>
          <p:spPr bwMode="auto">
            <a:xfrm>
              <a:off x="3153" y="-16"/>
              <a:ext cx="736" cy="424"/>
            </a:xfrm>
            <a:custGeom>
              <a:avLst/>
              <a:gdLst>
                <a:gd name="T0" fmla="*/ 0 w 1815"/>
                <a:gd name="T1" fmla="*/ 79 h 79"/>
                <a:gd name="T2" fmla="*/ 0 w 1815"/>
                <a:gd name="T3" fmla="*/ 79 h 79"/>
                <a:gd name="T4" fmla="*/ 1815 w 1815"/>
                <a:gd name="T5" fmla="*/ 79 h 79"/>
                <a:gd name="T6" fmla="*/ 1815 w 1815"/>
                <a:gd name="T7" fmla="*/ 0 h 79"/>
                <a:gd name="T8" fmla="*/ 0 w 1815"/>
                <a:gd name="T9" fmla="*/ 0 h 79"/>
                <a:gd name="T10" fmla="*/ 0 w 1815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5" h="79">
                  <a:moveTo>
                    <a:pt x="0" y="79"/>
                  </a:moveTo>
                  <a:lnTo>
                    <a:pt x="0" y="79"/>
                  </a:lnTo>
                  <a:lnTo>
                    <a:pt x="1815" y="79"/>
                  </a:lnTo>
                  <a:lnTo>
                    <a:pt x="1815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9AA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8"/>
            <p:cNvSpPr>
              <a:spLocks/>
            </p:cNvSpPr>
            <p:nvPr userDrawn="1"/>
          </p:nvSpPr>
          <p:spPr bwMode="auto">
            <a:xfrm>
              <a:off x="2341" y="-16"/>
              <a:ext cx="812" cy="424"/>
            </a:xfrm>
            <a:custGeom>
              <a:avLst/>
              <a:gdLst>
                <a:gd name="T0" fmla="*/ 0 w 2004"/>
                <a:gd name="T1" fmla="*/ 79 h 79"/>
                <a:gd name="T2" fmla="*/ 0 w 2004"/>
                <a:gd name="T3" fmla="*/ 79 h 79"/>
                <a:gd name="T4" fmla="*/ 2004 w 2004"/>
                <a:gd name="T5" fmla="*/ 79 h 79"/>
                <a:gd name="T6" fmla="*/ 2004 w 2004"/>
                <a:gd name="T7" fmla="*/ 0 h 79"/>
                <a:gd name="T8" fmla="*/ 0 w 2004"/>
                <a:gd name="T9" fmla="*/ 0 h 79"/>
                <a:gd name="T10" fmla="*/ 0 w 200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4" h="79">
                  <a:moveTo>
                    <a:pt x="0" y="79"/>
                  </a:moveTo>
                  <a:lnTo>
                    <a:pt x="0" y="79"/>
                  </a:lnTo>
                  <a:lnTo>
                    <a:pt x="2004" y="79"/>
                  </a:lnTo>
                  <a:lnTo>
                    <a:pt x="200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ABE2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9"/>
            <p:cNvSpPr>
              <a:spLocks/>
            </p:cNvSpPr>
            <p:nvPr userDrawn="1"/>
          </p:nvSpPr>
          <p:spPr bwMode="auto">
            <a:xfrm>
              <a:off x="0" y="-16"/>
              <a:ext cx="2341" cy="424"/>
            </a:xfrm>
            <a:custGeom>
              <a:avLst/>
              <a:gdLst>
                <a:gd name="T0" fmla="*/ 0 w 5779"/>
                <a:gd name="T1" fmla="*/ 79 h 79"/>
                <a:gd name="T2" fmla="*/ 0 w 5779"/>
                <a:gd name="T3" fmla="*/ 79 h 79"/>
                <a:gd name="T4" fmla="*/ 5779 w 5779"/>
                <a:gd name="T5" fmla="*/ 79 h 79"/>
                <a:gd name="T6" fmla="*/ 5779 w 5779"/>
                <a:gd name="T7" fmla="*/ 0 h 79"/>
                <a:gd name="T8" fmla="*/ 0 w 5779"/>
                <a:gd name="T9" fmla="*/ 0 h 79"/>
                <a:gd name="T10" fmla="*/ 0 w 5779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79" h="79">
                  <a:moveTo>
                    <a:pt x="0" y="79"/>
                  </a:moveTo>
                  <a:lnTo>
                    <a:pt x="0" y="79"/>
                  </a:lnTo>
                  <a:lnTo>
                    <a:pt x="5779" y="79"/>
                  </a:lnTo>
                  <a:lnTo>
                    <a:pt x="5779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175B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24" name="23 Grupo"/>
          <p:cNvGrpSpPr/>
          <p:nvPr userDrawn="1"/>
        </p:nvGrpSpPr>
        <p:grpSpPr>
          <a:xfrm>
            <a:off x="29320" y="6437487"/>
            <a:ext cx="9097125" cy="428625"/>
            <a:chOff x="2" y="6428064"/>
            <a:chExt cx="9097125" cy="428625"/>
          </a:xfrm>
        </p:grpSpPr>
        <p:sp>
          <p:nvSpPr>
            <p:cNvPr id="25" name="24 Conector"/>
            <p:cNvSpPr/>
            <p:nvPr userDrawn="1"/>
          </p:nvSpPr>
          <p:spPr>
            <a:xfrm>
              <a:off x="8186028" y="6512623"/>
              <a:ext cx="289628" cy="289628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8496764" y="6512772"/>
              <a:ext cx="289628" cy="289628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8807499" y="6512772"/>
              <a:ext cx="289628" cy="289628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7885020" y="6512623"/>
              <a:ext cx="289628" cy="289628"/>
            </a:xfrm>
            <a:prstGeom prst="flowChartConnector">
              <a:avLst/>
            </a:prstGeom>
            <a:solidFill>
              <a:srgbClr val="014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943754" y="6549001"/>
              <a:ext cx="172160" cy="217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"/>
            <p:cNvPicPr>
              <a:picLocks noChangeAspect="1" noChangeArrowheads="1"/>
            </p:cNvPicPr>
            <p:nvPr userDrawn="1"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11791"/>
            <a:stretch/>
          </p:blipFill>
          <p:spPr bwMode="auto">
            <a:xfrm>
              <a:off x="2" y="6428064"/>
              <a:ext cx="784400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17 Marcador de número de diapositiva"/>
          <p:cNvSpPr txBox="1">
            <a:spLocks/>
          </p:cNvSpPr>
          <p:nvPr userDrawn="1"/>
        </p:nvSpPr>
        <p:spPr>
          <a:xfrm>
            <a:off x="8808649" y="6522307"/>
            <a:ext cx="353404" cy="293750"/>
          </a:xfrm>
          <a:prstGeom prst="rect">
            <a:avLst/>
          </a:prstGeom>
        </p:spPr>
        <p:txBody>
          <a:bodyPr vert="horz" lIns="0" tIns="0" rIns="0" bIns="0" anchor="ctr"/>
          <a:lstStyle>
            <a:defPPr>
              <a:defRPr lang="es-PE"/>
            </a:defPPr>
            <a:lvl1pPr marL="0" algn="ctr" defTabSz="914400" rtl="0" eaLnBrk="1" latinLnBrk="0" hangingPunct="1">
              <a:defRPr kumimoji="0" sz="1000" kern="1200">
                <a:solidFill>
                  <a:srgbClr val="0141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954FDE-E8EE-41BC-A48D-B00D0284F92A}" type="slidenum">
              <a:rPr lang="es-PE" b="0" smtClean="0">
                <a:solidFill>
                  <a:schemeClr val="bg1"/>
                </a:solidFill>
              </a:rPr>
              <a:pPr/>
              <a:t>‹Nº›</a:t>
            </a:fld>
            <a:endParaRPr lang="es-PE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3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3" r:id="rId2"/>
    <p:sldLayoutId id="2147483736" r:id="rId3"/>
    <p:sldLayoutId id="2147483737" r:id="rId4"/>
    <p:sldLayoutId id="2147483738" r:id="rId5"/>
    <p:sldLayoutId id="2147483739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lang="es-ES" sz="2800" kern="1200" dirty="0" smtClean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e.educacion.es/formacion/materiales/8/cd_2013/m1_4/grafd4.gif" TargetMode="Externa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works.com/downloads#y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6UM7xXLySO4" TargetMode="External"/><Relationship Id="rId13" Type="http://schemas.openxmlformats.org/officeDocument/2006/relationships/hyperlink" Target="https://www.preceden.com/timelines/48236-historia-de--las-bases-de-datos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41.png"/><Relationship Id="rId12" Type="http://schemas.openxmlformats.org/officeDocument/2006/relationships/hyperlink" Target="http://histinf.blogs.upv.es/2011/01/04/historia-de-las-bases-de-datos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hyperlink" Target="https://www.youtube.com/watch?v=OfO5pPSPOa8" TargetMode="External"/><Relationship Id="rId5" Type="http://schemas.openxmlformats.org/officeDocument/2006/relationships/diagramColors" Target="../diagrams/colors2.xml"/><Relationship Id="rId10" Type="http://schemas.openxmlformats.org/officeDocument/2006/relationships/hyperlink" Target="https://www.youtube.com/watch?v=zEQnlLiCpKo" TargetMode="External"/><Relationship Id="rId4" Type="http://schemas.openxmlformats.org/officeDocument/2006/relationships/diagramQuickStyle" Target="../diagrams/quickStyle2.xml"/><Relationship Id="rId9" Type="http://schemas.openxmlformats.org/officeDocument/2006/relationships/hyperlink" Target="https://www.youtube.com/watch?v=3R27HUwjSU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Carrera Profesional Técnica</a:t>
            </a:r>
            <a:endParaRPr lang="es-PE" dirty="0"/>
          </a:p>
        </p:txBody>
      </p:sp>
      <p:sp>
        <p:nvSpPr>
          <p:cNvPr id="24" name="23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dirty="0" smtClean="0"/>
              <a:t>Docentes </a:t>
            </a:r>
            <a:r>
              <a:rPr lang="es-PE" smtClean="0"/>
              <a:t>del </a:t>
            </a:r>
            <a:r>
              <a:rPr lang="es-PE" smtClean="0"/>
              <a:t>Curso</a:t>
            </a:r>
            <a:endParaRPr lang="es-PE" dirty="0" smtClean="0"/>
          </a:p>
        </p:txBody>
      </p:sp>
      <p:sp>
        <p:nvSpPr>
          <p:cNvPr id="25" name="24 Marcador de texto"/>
          <p:cNvSpPr>
            <a:spLocks noGrp="1"/>
          </p:cNvSpPr>
          <p:nvPr>
            <p:ph type="body" idx="10"/>
          </p:nvPr>
        </p:nvSpPr>
        <p:spPr>
          <a:xfrm>
            <a:off x="263771" y="3906695"/>
            <a:ext cx="5823676" cy="395035"/>
          </a:xfrm>
        </p:spPr>
        <p:txBody>
          <a:bodyPr>
            <a:normAutofit/>
          </a:bodyPr>
          <a:lstStyle/>
          <a:p>
            <a:r>
              <a:rPr lang="es-PE" dirty="0" smtClean="0"/>
              <a:t>BASE DE </a:t>
            </a:r>
            <a:r>
              <a:rPr lang="es-PE" dirty="0" smtClean="0"/>
              <a:t>DATOS</a:t>
            </a:r>
            <a:endParaRPr lang="es-PE" dirty="0"/>
          </a:p>
        </p:txBody>
      </p:sp>
      <p:sp>
        <p:nvSpPr>
          <p:cNvPr id="5" name="24 Marcador de texto"/>
          <p:cNvSpPr txBox="1">
            <a:spLocks/>
          </p:cNvSpPr>
          <p:nvPr/>
        </p:nvSpPr>
        <p:spPr>
          <a:xfrm>
            <a:off x="263771" y="4949060"/>
            <a:ext cx="3060061" cy="395035"/>
          </a:xfrm>
          <a:prstGeom prst="rect">
            <a:avLst/>
          </a:prstGeom>
        </p:spPr>
        <p:txBody>
          <a:bodyPr vert="horz" lIns="45720" tIns="45720" rIns="45720" bIns="45720" rtlCol="0"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2200" b="1" kern="1200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sz="2800" dirty="0" smtClean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UNIDAD 1</a:t>
            </a:r>
            <a:endParaRPr lang="es-PE" sz="2800" dirty="0">
              <a:solidFill>
                <a:srgbClr val="FF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1310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8344" y="3477819"/>
            <a:ext cx="4267018" cy="537846"/>
          </a:xfrm>
        </p:spPr>
        <p:txBody>
          <a:bodyPr>
            <a:normAutofit/>
          </a:bodyPr>
          <a:lstStyle/>
          <a:p>
            <a:r>
              <a:rPr lang="es-PE" sz="3200" b="1" dirty="0" smtClean="0">
                <a:solidFill>
                  <a:srgbClr val="0070C0"/>
                </a:solidFill>
              </a:rPr>
              <a:t>Contenido</a:t>
            </a:r>
            <a:endParaRPr lang="es-PE" sz="3200" b="1" dirty="0">
              <a:solidFill>
                <a:srgbClr val="0070C0"/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86368" y="4125536"/>
            <a:ext cx="6149118" cy="1103896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s-E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Tema 1</a:t>
            </a:r>
            <a:r>
              <a:rPr lang="es-ES" sz="20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s-ES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Introducción al curso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Introducción </a:t>
            </a:r>
            <a:r>
              <a:rPr lang="es-PE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 curso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Importancia del curso dentro de la carrera</a:t>
            </a:r>
            <a:endParaRPr lang="es-PE" dirty="0"/>
          </a:p>
        </p:txBody>
      </p:sp>
      <p:sp>
        <p:nvSpPr>
          <p:cNvPr id="4" name="CuadroTexto 3"/>
          <p:cNvSpPr txBox="1"/>
          <p:nvPr/>
        </p:nvSpPr>
        <p:spPr>
          <a:xfrm>
            <a:off x="356865" y="2195060"/>
            <a:ext cx="8476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 término de la primera unidad, el estudiante describe los componentes de una base de datos a partir de casos propuestos por el profesor, tomados de situaciones cotidianas y de ejemplos producidos individualmente. Asimismo, determina los elementos de una base de datos y sus interrelaciones. </a:t>
            </a: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341116" y="17594"/>
            <a:ext cx="416749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s-P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Logro de la Unidad</a:t>
            </a:r>
            <a:endParaRPr lang="es-P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4" descr="http://www.dsro.org/vicarias/PublishingImages/Veducacion/banner-educacio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8" b="12428"/>
          <a:stretch/>
        </p:blipFill>
        <p:spPr bwMode="auto">
          <a:xfrm>
            <a:off x="507351" y="635761"/>
            <a:ext cx="8235406" cy="147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514" y="4015666"/>
            <a:ext cx="3161577" cy="237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7739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2105" y="184773"/>
            <a:ext cx="5267782" cy="576064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 AL CURSO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79512" y="899880"/>
            <a:ext cx="87129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algn="just">
              <a:defRPr/>
            </a:pP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la actualidad la base de datos es considerada el </a:t>
            </a:r>
            <a:r>
              <a:rPr lang="es-PE" sz="20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núcleo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las principales aplicaciones, sitio web y servicios corporativos. Son utilizadas como fuentes de recuperación y almacenamiento de la información en todos los campos; ya sea a nivel </a:t>
            </a:r>
            <a:r>
              <a:rPr lang="es-PE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científico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s-PE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s-PE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económico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s-PE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político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s-PE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cultural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s-PE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2" descr="http://www.ite.educacion.es/formacion/materiales/8/cd_2013/m1_4/grafd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670139"/>
            <a:ext cx="5328592" cy="319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/>
          <p:cNvSpPr/>
          <p:nvPr/>
        </p:nvSpPr>
        <p:spPr>
          <a:xfrm>
            <a:off x="1148405" y="6021650"/>
            <a:ext cx="65244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100" dirty="0" smtClean="0"/>
              <a:t>Imagen tomada de: </a:t>
            </a:r>
            <a:r>
              <a:rPr lang="es-ES" sz="1200" b="1" dirty="0" smtClean="0">
                <a:hlinkClick r:id="rId3"/>
              </a:rPr>
              <a:t>http</a:t>
            </a:r>
            <a:r>
              <a:rPr lang="es-ES" sz="1200" b="1" dirty="0">
                <a:hlinkClick r:id="rId3"/>
              </a:rPr>
              <a:t>://</a:t>
            </a:r>
            <a:r>
              <a:rPr lang="es-ES" sz="1200" b="1" dirty="0" smtClean="0">
                <a:hlinkClick r:id="rId3"/>
              </a:rPr>
              <a:t>www.ite.educacion.es/formacion/materiales/8/cd_2013/m1_4/grafd4.gif</a:t>
            </a:r>
            <a:r>
              <a:rPr lang="es-ES" sz="1200" b="1" dirty="0" smtClean="0"/>
              <a:t> </a:t>
            </a:r>
            <a:endParaRPr lang="es-ES" sz="1100" b="1" dirty="0"/>
          </a:p>
        </p:txBody>
      </p:sp>
    </p:spTree>
    <p:extLst>
      <p:ext uri="{BB962C8B-B14F-4D97-AF65-F5344CB8AC3E}">
        <p14:creationId xmlns:p14="http://schemas.microsoft.com/office/powerpoint/2010/main" val="5211206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405120" y="150150"/>
            <a:ext cx="5267782" cy="57606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IMPORTANCIA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 CURSO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79512" y="834566"/>
            <a:ext cx="87129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algn="just">
              <a:defRPr/>
            </a:pPr>
            <a:r>
              <a:rPr lang="es-PE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un mundo globalizado, las Bases de Datos tienen una gran relevancia a 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 </a:t>
            </a:r>
            <a:r>
              <a:rPr lang="es-PE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empresarial; ya que se consideran una de las mayores aportaciones que ha dado la informática a las empresas. En la actualidad, cualquier organización, por más pequeña que sea, debe contar con una Base de Datos y no basta tenerla; sino debemos saber cómo gestionarlas.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120" y="2465782"/>
            <a:ext cx="3669109" cy="37622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01504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302" y="284583"/>
            <a:ext cx="7211144" cy="576064"/>
          </a:xfrm>
          <a:solidFill>
            <a:srgbClr val="5B9BD5"/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HAGA UNA PAUSA (REFLEXIÓN)</a:t>
            </a: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984" y="1362702"/>
            <a:ext cx="3584351" cy="3552981"/>
          </a:xfrm>
          <a:prstGeom prst="rect">
            <a:avLst/>
          </a:prstGeom>
        </p:spPr>
      </p:pic>
      <p:sp>
        <p:nvSpPr>
          <p:cNvPr id="23" name="CuadroTexto 22"/>
          <p:cNvSpPr txBox="1"/>
          <p:nvPr/>
        </p:nvSpPr>
        <p:spPr>
          <a:xfrm>
            <a:off x="5109244" y="2233432"/>
            <a:ext cx="35387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 que reflexionen y entiendan la importancia del tema tratado y el mejoramiento de su propio proceso de aprendizaje.</a:t>
            </a:r>
            <a:endParaRPr lang="es-PE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163643" y="5840323"/>
            <a:ext cx="2829571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 smtClean="0">
                <a:solidFill>
                  <a:schemeClr val="bg1"/>
                </a:solidFill>
              </a:rPr>
              <a:t>FIN DEL TEMA 1</a:t>
            </a:r>
            <a:endParaRPr lang="es-PE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9046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8344" y="3477819"/>
            <a:ext cx="4267018" cy="537846"/>
          </a:xfrm>
        </p:spPr>
        <p:txBody>
          <a:bodyPr>
            <a:normAutofit/>
          </a:bodyPr>
          <a:lstStyle/>
          <a:p>
            <a:r>
              <a:rPr lang="es-PE" sz="3200" b="1" dirty="0" smtClean="0">
                <a:solidFill>
                  <a:srgbClr val="0070C0"/>
                </a:solidFill>
              </a:rPr>
              <a:t>Contenido</a:t>
            </a:r>
            <a:endParaRPr lang="es-PE" sz="3200" b="1" dirty="0">
              <a:solidFill>
                <a:srgbClr val="0070C0"/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86368" y="4125536"/>
            <a:ext cx="6149118" cy="1569870"/>
          </a:xfrm>
        </p:spPr>
        <p:txBody>
          <a:bodyPr>
            <a:normAutofit fontScale="92500" lnSpcReduction="10000"/>
          </a:bodyPr>
          <a:lstStyle/>
          <a:p>
            <a:pPr marL="228600" lvl="1">
              <a:spcBef>
                <a:spcPts val="1000"/>
              </a:spcBef>
            </a:pPr>
            <a:r>
              <a:rPr lang="es-E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Tema </a:t>
            </a:r>
            <a:r>
              <a:rPr lang="es-ES" sz="20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2: </a:t>
            </a:r>
            <a:r>
              <a:rPr lang="es-ES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Conceptos básicos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Surgimiento histórico de las bases de datos.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Definición de base de datos.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Objetivos de base de datos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Herramienta de modelado (DER): yED y Entorno.</a:t>
            </a:r>
          </a:p>
          <a:p>
            <a:pPr lvl="2">
              <a:buBlip>
                <a:blip r:embed="rId2"/>
              </a:buBlip>
            </a:pPr>
            <a:r>
              <a:rPr lang="es-PE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Obtención de un DER básico</a:t>
            </a:r>
          </a:p>
          <a:p>
            <a:pPr lvl="2">
              <a:buBlip>
                <a:blip r:embed="rId2"/>
              </a:buBlip>
            </a:pPr>
            <a:endParaRPr lang="es-PE" dirty="0"/>
          </a:p>
        </p:txBody>
      </p:sp>
      <p:sp>
        <p:nvSpPr>
          <p:cNvPr id="4" name="CuadroTexto 3"/>
          <p:cNvSpPr txBox="1"/>
          <p:nvPr/>
        </p:nvSpPr>
        <p:spPr>
          <a:xfrm>
            <a:off x="356865" y="2195060"/>
            <a:ext cx="8476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 término de la primera unidad, el estudiante describe los componentes de una base de datos a partir de casos propuestos por el profesor, tomados de situaciones cotidianas y de ejemplos producidos individualmente. Asimismo, determina los elementos de una base de datos y sus interrelaciones. </a:t>
            </a: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341116" y="17594"/>
            <a:ext cx="416749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s-P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Logro de la Unidad</a:t>
            </a:r>
            <a:endParaRPr lang="es-P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4" descr="http://www.dsro.org/vicarias/PublishingImages/Veducacion/banner-educacio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8" b="12428"/>
          <a:stretch/>
        </p:blipFill>
        <p:spPr bwMode="auto">
          <a:xfrm>
            <a:off x="507351" y="635761"/>
            <a:ext cx="8235406" cy="147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514" y="4015666"/>
            <a:ext cx="3161577" cy="237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1203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1331640" y="23817"/>
            <a:ext cx="7812360" cy="87312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SURGIMIENTO HISTÓRICO DE LAS BASE DE DATOS</a:t>
            </a:r>
            <a:endParaRPr lang="es-PE" sz="2400" dirty="0"/>
          </a:p>
        </p:txBody>
      </p:sp>
      <p:sp>
        <p:nvSpPr>
          <p:cNvPr id="15" name="Rectángulo 14"/>
          <p:cNvSpPr/>
          <p:nvPr/>
        </p:nvSpPr>
        <p:spPr>
          <a:xfrm>
            <a:off x="660352" y="2414508"/>
            <a:ext cx="2790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algn="ctr">
              <a:defRPr/>
            </a:pPr>
            <a:r>
              <a:rPr lang="es-PE" sz="2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¿Cuáles son?</a:t>
            </a:r>
            <a:endParaRPr lang="es-PE" sz="28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7269383" y="1386354"/>
            <a:ext cx="1296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algn="ctr"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</a:t>
            </a:r>
            <a:r>
              <a:rPr lang="es-P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83" y="4691524"/>
            <a:ext cx="1076325" cy="1057275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083" y="2886184"/>
            <a:ext cx="1066800" cy="1095375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839" y="1313135"/>
            <a:ext cx="1104900" cy="1085850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3211032" y="5085093"/>
            <a:ext cx="33296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algn="just">
              <a:defRPr/>
            </a:pPr>
            <a:r>
              <a:rPr lang="es-PE" sz="16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1ra Generación</a:t>
            </a:r>
          </a:p>
          <a:p>
            <a:pPr marL="460375" indent="-285750" algn="just">
              <a:buFont typeface="Arial" panose="020B0604020202020204" pitchFamily="34" charset="0"/>
              <a:buChar char="•"/>
              <a:defRPr/>
            </a:pPr>
            <a:r>
              <a:rPr lang="es-PE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 de datos Jerárquicas</a:t>
            </a:r>
          </a:p>
          <a:p>
            <a:pPr marL="460375" indent="-285750" algn="just">
              <a:buFont typeface="Arial" panose="020B0604020202020204" pitchFamily="34" charset="0"/>
              <a:buChar char="•"/>
              <a:defRPr/>
            </a:pPr>
            <a:r>
              <a:rPr lang="es-PE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 de datos de Red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4750985" y="3396784"/>
            <a:ext cx="24595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algn="just">
              <a:defRPr/>
            </a:pPr>
            <a:r>
              <a:rPr lang="es-PE" sz="16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2da Generación</a:t>
            </a:r>
          </a:p>
          <a:p>
            <a:pPr marL="174625" algn="just">
              <a:defRPr/>
            </a:pPr>
            <a:r>
              <a:rPr lang="es-PE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s-PE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 Relacional</a:t>
            </a:r>
            <a:endParaRPr lang="es-PE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5688489" y="1762142"/>
            <a:ext cx="3455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algn="just">
              <a:defRPr/>
            </a:pPr>
            <a:r>
              <a:rPr lang="es-PE" sz="16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3ra Generación</a:t>
            </a:r>
          </a:p>
          <a:p>
            <a:pPr marL="517525" indent="-342900" algn="just">
              <a:buFontTx/>
              <a:buChar char="-"/>
              <a:defRPr/>
            </a:pPr>
            <a:r>
              <a:rPr lang="es-PE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 orientado a objetos</a:t>
            </a:r>
          </a:p>
          <a:p>
            <a:pPr marL="517525" indent="-342900" algn="just">
              <a:buFontTx/>
              <a:buChar char="-"/>
              <a:defRPr/>
            </a:pPr>
            <a:r>
              <a:rPr lang="es-PE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 objeto relacional</a:t>
            </a:r>
            <a:endParaRPr lang="es-PE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5197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1096508" y="25409"/>
            <a:ext cx="7812360" cy="87312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SURGIMIENTO HISTÓRICO DE LAS BASE DE DATOS</a:t>
            </a:r>
            <a:endParaRPr lang="es-PE" sz="2400" dirty="0"/>
          </a:p>
        </p:txBody>
      </p:sp>
      <p:sp>
        <p:nvSpPr>
          <p:cNvPr id="18" name="Rectángulo 17"/>
          <p:cNvSpPr/>
          <p:nvPr/>
        </p:nvSpPr>
        <p:spPr>
          <a:xfrm>
            <a:off x="7269383" y="1386354"/>
            <a:ext cx="1296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algn="ctr"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</a:t>
            </a:r>
            <a:r>
              <a:rPr lang="es-P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426" y="1488869"/>
            <a:ext cx="3809442" cy="2392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4" y="1488869"/>
            <a:ext cx="3717416" cy="2469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Elipse 13"/>
          <p:cNvSpPr/>
          <p:nvPr/>
        </p:nvSpPr>
        <p:spPr>
          <a:xfrm>
            <a:off x="1780336" y="922015"/>
            <a:ext cx="792088" cy="511860"/>
          </a:xfrm>
          <a:prstGeom prst="ellipse">
            <a:avLst/>
          </a:prstGeom>
          <a:solidFill>
            <a:srgbClr val="2AD1A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1G</a:t>
            </a:r>
            <a:endParaRPr lang="es-PE" dirty="0"/>
          </a:p>
        </p:txBody>
      </p:sp>
      <p:sp>
        <p:nvSpPr>
          <p:cNvPr id="16" name="Elipse 15"/>
          <p:cNvSpPr/>
          <p:nvPr/>
        </p:nvSpPr>
        <p:spPr>
          <a:xfrm>
            <a:off x="6436961" y="921098"/>
            <a:ext cx="792088" cy="511860"/>
          </a:xfrm>
          <a:prstGeom prst="ellipse">
            <a:avLst/>
          </a:prstGeom>
          <a:solidFill>
            <a:srgbClr val="2AD1A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2G</a:t>
            </a:r>
            <a:endParaRPr lang="es-PE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586" y="4212179"/>
            <a:ext cx="3869407" cy="2298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Elipse 20"/>
          <p:cNvSpPr/>
          <p:nvPr/>
        </p:nvSpPr>
        <p:spPr>
          <a:xfrm>
            <a:off x="2701748" y="4549973"/>
            <a:ext cx="792088" cy="511860"/>
          </a:xfrm>
          <a:prstGeom prst="ellipse">
            <a:avLst/>
          </a:prstGeom>
          <a:solidFill>
            <a:srgbClr val="2AD1A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3G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183579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4" grpId="0" animBg="1"/>
      <p:bldP spid="1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1882217" y="352145"/>
            <a:ext cx="6054377" cy="57606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DEFINICIÓN DE BASE DE DATOS</a:t>
            </a:r>
          </a:p>
        </p:txBody>
      </p:sp>
      <p:pic>
        <p:nvPicPr>
          <p:cNvPr id="20" name="Picture 2" descr="http://www.censa.edu.co/sitio_formulario/img/caricatura-prq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04" y="2195490"/>
            <a:ext cx="142875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Llamada de nube 21"/>
          <p:cNvSpPr/>
          <p:nvPr/>
        </p:nvSpPr>
        <p:spPr>
          <a:xfrm>
            <a:off x="98622" y="852825"/>
            <a:ext cx="1877913" cy="1006210"/>
          </a:xfrm>
          <a:prstGeom prst="cloudCallout">
            <a:avLst>
              <a:gd name="adj1" fmla="val -1229"/>
              <a:gd name="adj2" fmla="val 111969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¿Qué es una Base de Datos?</a:t>
            </a:r>
            <a:endParaRPr lang="es-PE" sz="1600" b="1" dirty="0"/>
          </a:p>
        </p:txBody>
      </p:sp>
      <p:sp>
        <p:nvSpPr>
          <p:cNvPr id="24" name="Rectángulo 23"/>
          <p:cNvSpPr/>
          <p:nvPr/>
        </p:nvSpPr>
        <p:spPr>
          <a:xfrm>
            <a:off x="1901999" y="1579657"/>
            <a:ext cx="60345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 base de datos es una colección de información </a:t>
            </a:r>
            <a:r>
              <a:rPr lang="es-PE" sz="20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organizada y relacionada entre sí,</a:t>
            </a:r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PE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forma que un programa de ordenador pueda seleccionar rápidamente los fragmentos de datos que necesite. Una base de datos es un sistema de archivos electrónico.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854" y="3597497"/>
            <a:ext cx="4805592" cy="2790710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1281046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53332" y="156817"/>
            <a:ext cx="6558878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Asigne el número correcto a las imágenes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234420" y="3496626"/>
            <a:ext cx="29095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PE" sz="1600" b="1" dirty="0" smtClean="0">
              <a:solidFill>
                <a:schemeClr val="tx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PE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 de Nombres</a:t>
            </a:r>
            <a:endParaRPr lang="es-PE" sz="1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Estadísticas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Redes sociales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 de asistencia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Correo electrónico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Campañas por correo masivo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Transacciones POS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Transacciones E-Commerce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Prensa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Ventas Online</a:t>
            </a:r>
          </a:p>
          <a:p>
            <a:pPr marL="342900" indent="-342900">
              <a:buAutoNum type="arabicPeriod"/>
            </a:pPr>
            <a:r>
              <a:rPr lang="es-PE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Portal Web</a:t>
            </a:r>
          </a:p>
          <a:p>
            <a:pPr marL="342900" indent="-342900">
              <a:buAutoNum type="arabicPeriod"/>
            </a:pPr>
            <a:endParaRPr lang="es-PE" sz="1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7" y="3769306"/>
            <a:ext cx="1080000" cy="7738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493" y="2561140"/>
            <a:ext cx="1196867" cy="9030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77" y="1228619"/>
            <a:ext cx="1132022" cy="9663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1" name="Imagen 30"/>
          <p:cNvPicPr>
            <a:picLocks noChangeAspect="1"/>
          </p:cNvPicPr>
          <p:nvPr/>
        </p:nvPicPr>
        <p:blipFill rotWithShape="1">
          <a:blip r:embed="rId5"/>
          <a:srcRect l="12375" r="10651"/>
          <a:stretch/>
        </p:blipFill>
        <p:spPr>
          <a:xfrm>
            <a:off x="2738737" y="1236468"/>
            <a:ext cx="1099681" cy="950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214" y="4941556"/>
            <a:ext cx="1139203" cy="9030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77" y="2487723"/>
            <a:ext cx="1132022" cy="8913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59" y="4941556"/>
            <a:ext cx="1080000" cy="9030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5" name="Picture 2" descr="http://www.nic.gdn/images/email-blast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274" y="2561140"/>
            <a:ext cx="1118144" cy="8395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7128" y="1175012"/>
            <a:ext cx="1182232" cy="10121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7" name="Imagen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9215" y="3772901"/>
            <a:ext cx="1139203" cy="7738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/>
          <p:cNvSpPr txBox="1"/>
          <p:nvPr/>
        </p:nvSpPr>
        <p:spPr>
          <a:xfrm>
            <a:off x="1667248" y="5257932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6507622" y="2926411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669360" y="1610912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4068181" y="5257932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4057592" y="3971587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4057751" y="2796254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4057751" y="1610912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6499072" y="1458512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1667248" y="4128714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1669360" y="2748718"/>
            <a:ext cx="550358" cy="3693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P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330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979712" y="240156"/>
            <a:ext cx="5647914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 DE BASE DE DATOS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69817" y="2318756"/>
            <a:ext cx="196532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s-PE" sz="1600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¿POR QUÉ INTERESA USAR UNA BASE DE DATOS?</a:t>
            </a:r>
            <a:endParaRPr lang="es-PE" sz="1600" b="1" i="0" dirty="0">
              <a:solidFill>
                <a:srgbClr val="0070C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26" name="Rectángulo redondeado 25"/>
          <p:cNvSpPr/>
          <p:nvPr/>
        </p:nvSpPr>
        <p:spPr>
          <a:xfrm>
            <a:off x="1979712" y="1120427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Independencia de los datos y los programas de aplicación</a:t>
            </a:r>
            <a:endParaRPr lang="es-PE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1985361" y="1786487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Minimización de la redundancia</a:t>
            </a:r>
            <a:endParaRPr lang="es-PE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Rectángulo redondeado 37"/>
          <p:cNvSpPr/>
          <p:nvPr/>
        </p:nvSpPr>
        <p:spPr>
          <a:xfrm>
            <a:off x="2005399" y="2416571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Integración y sincronización de las bases de datos</a:t>
            </a:r>
          </a:p>
        </p:txBody>
      </p:sp>
      <p:sp>
        <p:nvSpPr>
          <p:cNvPr id="39" name="Rectángulo redondeado 38"/>
          <p:cNvSpPr/>
          <p:nvPr/>
        </p:nvSpPr>
        <p:spPr>
          <a:xfrm>
            <a:off x="2005399" y="3053971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Integridad de los datos</a:t>
            </a:r>
          </a:p>
        </p:txBody>
      </p:sp>
      <p:sp>
        <p:nvSpPr>
          <p:cNvPr id="40" name="Rectángulo redondeado 39"/>
          <p:cNvSpPr/>
          <p:nvPr/>
        </p:nvSpPr>
        <p:spPr>
          <a:xfrm>
            <a:off x="2005399" y="3699068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Seguridad y recuperación</a:t>
            </a:r>
          </a:p>
        </p:txBody>
      </p:sp>
      <p:sp>
        <p:nvSpPr>
          <p:cNvPr id="41" name="Rectángulo redondeado 40"/>
          <p:cNvSpPr/>
          <p:nvPr/>
        </p:nvSpPr>
        <p:spPr>
          <a:xfrm>
            <a:off x="2005399" y="4275132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Facilidad de manipulación de la información</a:t>
            </a:r>
          </a:p>
        </p:txBody>
      </p:sp>
      <p:sp>
        <p:nvSpPr>
          <p:cNvPr id="42" name="Rectángulo redondeado 41"/>
          <p:cNvSpPr/>
          <p:nvPr/>
        </p:nvSpPr>
        <p:spPr>
          <a:xfrm>
            <a:off x="1979712" y="4936851"/>
            <a:ext cx="5076000" cy="4456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 centralizado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7402268" y="2882207"/>
            <a:ext cx="1593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s-PE" sz="1600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Fundamente cada uno</a:t>
            </a:r>
            <a:endParaRPr lang="es-PE" sz="1600" b="1" i="0" dirty="0">
              <a:solidFill>
                <a:srgbClr val="0070C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44" name="Cerrar llave 43"/>
          <p:cNvSpPr/>
          <p:nvPr/>
        </p:nvSpPr>
        <p:spPr>
          <a:xfrm>
            <a:off x="7081399" y="1343274"/>
            <a:ext cx="300830" cy="38164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08751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 animBg="1"/>
      <p:bldP spid="2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979712" y="240156"/>
            <a:ext cx="4956665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HERRAMIENTA DE MODELADO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657599" y="806626"/>
            <a:ext cx="992033" cy="5664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yED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06995" y="1988737"/>
            <a:ext cx="18844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 </a:t>
            </a:r>
            <a:r>
              <a:rPr lang="es-P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 poderosa aplicación de escritorio que se puede utilizar para generar de forma rápida y eficaz diagramas de alta calidad.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578542" y="1597090"/>
            <a:ext cx="18197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PE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¿Qué es yED?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61" y="4446196"/>
            <a:ext cx="1213051" cy="705550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4818803" y="1554422"/>
            <a:ext cx="1103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PE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Entorno</a:t>
            </a:r>
            <a:endParaRPr lang="es-PE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79" y="1939566"/>
            <a:ext cx="5507464" cy="3845963"/>
          </a:xfrm>
          <a:prstGeom prst="rect">
            <a:avLst/>
          </a:prstGeom>
          <a:ln w="28575">
            <a:solidFill>
              <a:srgbClr val="2AD1AE"/>
            </a:solidFill>
          </a:ln>
        </p:spPr>
      </p:pic>
      <p:sp>
        <p:nvSpPr>
          <p:cNvPr id="6" name="Rectángulo 5"/>
          <p:cNvSpPr/>
          <p:nvPr/>
        </p:nvSpPr>
        <p:spPr>
          <a:xfrm>
            <a:off x="4153615" y="5955230"/>
            <a:ext cx="4105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</a:t>
            </a:r>
            <a:r>
              <a:rPr lang="es-PE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www.yworks.com/downloads#yEd</a:t>
            </a:r>
            <a:endParaRPr lang="es-PE" sz="1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s-PE" dirty="0"/>
          </a:p>
        </p:txBody>
      </p:sp>
      <p:sp>
        <p:nvSpPr>
          <p:cNvPr id="20" name="Rectángulo 19"/>
          <p:cNvSpPr/>
          <p:nvPr/>
        </p:nvSpPr>
        <p:spPr>
          <a:xfrm>
            <a:off x="2762024" y="5986007"/>
            <a:ext cx="14253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PE" sz="11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 de descarga:</a:t>
            </a:r>
            <a:endParaRPr lang="es-PE" sz="11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3072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496388" y="135653"/>
            <a:ext cx="5087294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OBTENCIÓN DE UN DER BÁSICO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74321" y="800692"/>
            <a:ext cx="6008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b="1" dirty="0"/>
              <a:t>Nota: </a:t>
            </a:r>
            <a:r>
              <a:rPr lang="es-PE" dirty="0"/>
              <a:t>utilizaremos las simbologías básicas para la elaboración. </a:t>
            </a:r>
          </a:p>
        </p:txBody>
      </p:sp>
      <p:pic>
        <p:nvPicPr>
          <p:cNvPr id="12" name="Imagen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21" y="1637925"/>
            <a:ext cx="7050330" cy="4271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86102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496388" y="135653"/>
            <a:ext cx="5087294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OBTENCIÓN DE UN DER BÁSICO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70262" y="889655"/>
            <a:ext cx="45794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Caso 01: Registro de automóvil</a:t>
            </a:r>
            <a:endParaRPr lang="es-PE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70262" y="1446520"/>
            <a:ext cx="81414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requiere obtener la tarjeta de circulación de un automóvil tomando en cuenta los siguientes datos:</a:t>
            </a:r>
            <a:endParaRPr lang="es-P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1651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Automóvil: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Modelo, placa, color y año de fabricación.</a:t>
            </a:r>
            <a:endParaRPr lang="es-P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1651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Tarjeta de circulación: 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Propietario, nro_serie y tipo.</a:t>
            </a:r>
            <a:endParaRPr lang="es-P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endParaRPr lang="es-P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Realizar el diagrama ENTIDAD/RELACIÓN para este sistema de información indicando las entidades, atributos, relaciones y sus características</a:t>
            </a:r>
            <a:endParaRPr lang="es-P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98552" y="3880258"/>
            <a:ext cx="5447405" cy="2370417"/>
            <a:chOff x="470262" y="3825668"/>
            <a:chExt cx="5220854" cy="1960982"/>
          </a:xfrm>
        </p:grpSpPr>
        <p:pic>
          <p:nvPicPr>
            <p:cNvPr id="6" name="Imagen 5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262" y="3825668"/>
              <a:ext cx="5220854" cy="1960982"/>
            </a:xfrm>
            <a:prstGeom prst="rect">
              <a:avLst/>
            </a:prstGeom>
            <a:noFill/>
            <a:ln w="28575">
              <a:solidFill>
                <a:srgbClr val="2AD1AE"/>
              </a:solidFill>
            </a:ln>
          </p:spPr>
        </p:pic>
        <p:sp>
          <p:nvSpPr>
            <p:cNvPr id="9" name="Cuadro de texto 663"/>
            <p:cNvSpPr txBox="1"/>
            <p:nvPr/>
          </p:nvSpPr>
          <p:spPr>
            <a:xfrm>
              <a:off x="2255648" y="5257753"/>
              <a:ext cx="266700" cy="25717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2AD1AE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s-ES" sz="1000" b="1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PE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uadro de texto 663"/>
            <p:cNvSpPr txBox="1"/>
            <p:nvPr/>
          </p:nvSpPr>
          <p:spPr>
            <a:xfrm>
              <a:off x="3690546" y="5257752"/>
              <a:ext cx="266700" cy="25717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2AD1AE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s-ES" sz="1000" b="1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PE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ángulo 12"/>
          <p:cNvSpPr/>
          <p:nvPr/>
        </p:nvSpPr>
        <p:spPr>
          <a:xfrm>
            <a:off x="598552" y="3509774"/>
            <a:ext cx="1337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6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Solución</a:t>
            </a:r>
            <a:endParaRPr lang="es-PE" sz="16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884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496388" y="135653"/>
            <a:ext cx="5087294" cy="566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OBTENCIÓN DE UN DER BÁSICO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13897" y="795889"/>
            <a:ext cx="2627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Caso 02: Cuentas</a:t>
            </a:r>
            <a:endParaRPr lang="es-PE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13897" y="1289765"/>
            <a:ext cx="855714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banco “</a:t>
            </a:r>
            <a:r>
              <a:rPr lang="es-E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Préstame ya</a:t>
            </a:r>
            <a:r>
              <a:rPr lang="es-E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desea controlar la información de sus clientes con sus cuentas correspondientes. Para ello toma en cuenta los siguientes datos:</a:t>
            </a:r>
            <a:endParaRPr lang="es-PE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ES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Cliente</a:t>
            </a:r>
            <a:r>
              <a:rPr lang="es-E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s-E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Documento de Identidad, nombre y dirección. </a:t>
            </a:r>
            <a:endParaRPr lang="es-PE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ES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Cuenta</a:t>
            </a:r>
            <a:r>
              <a:rPr lang="es-E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s-E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Tipocuenta, nro_cuenta y saldo.</a:t>
            </a:r>
            <a:endParaRPr lang="es-PE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s-E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Además</a:t>
            </a:r>
            <a:r>
              <a:rPr lang="es-E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un cliente puede tener muchas cuentas, pero que una cuenta puede llegar a pertenecer a un solo cliente (Se indica que puede, ya que existen cuentas registradas a favor de más de una persona “En este caso”). </a:t>
            </a:r>
            <a:endParaRPr lang="es-PE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Imagen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0" y="3848328"/>
            <a:ext cx="5518561" cy="2071010"/>
          </a:xfrm>
          <a:prstGeom prst="rect">
            <a:avLst/>
          </a:prstGeom>
          <a:noFill/>
          <a:ln w="28575">
            <a:solidFill>
              <a:srgbClr val="2AD1AE"/>
            </a:solidFill>
          </a:ln>
        </p:spPr>
      </p:pic>
      <p:sp>
        <p:nvSpPr>
          <p:cNvPr id="12" name="Rectángulo 11"/>
          <p:cNvSpPr/>
          <p:nvPr/>
        </p:nvSpPr>
        <p:spPr>
          <a:xfrm>
            <a:off x="598552" y="3509774"/>
            <a:ext cx="1337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6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Solución</a:t>
            </a:r>
            <a:endParaRPr lang="es-PE" sz="16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333768" y="5431808"/>
            <a:ext cx="409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s-PE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817566" y="5431808"/>
            <a:ext cx="409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7415075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302" y="284583"/>
            <a:ext cx="7211144" cy="576064"/>
          </a:xfrm>
          <a:solidFill>
            <a:srgbClr val="5B9BD5"/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HAGA UNA PAUSA (REFLEXIÓN)</a:t>
            </a: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227" y="1646037"/>
            <a:ext cx="3584351" cy="3552981"/>
          </a:xfrm>
          <a:prstGeom prst="rect">
            <a:avLst/>
          </a:prstGeom>
        </p:spPr>
      </p:pic>
      <p:sp>
        <p:nvSpPr>
          <p:cNvPr id="23" name="CuadroTexto 22"/>
          <p:cNvSpPr txBox="1"/>
          <p:nvPr/>
        </p:nvSpPr>
        <p:spPr>
          <a:xfrm>
            <a:off x="5109244" y="2336462"/>
            <a:ext cx="35387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 que reflexionen y entiendan la importancia de los temas tratados y el mejoramiento de su propio proceso de aprendizaje.</a:t>
            </a:r>
            <a:endParaRPr lang="es-PE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989062" y="5858100"/>
            <a:ext cx="2829571" cy="4616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 smtClean="0">
                <a:solidFill>
                  <a:schemeClr val="bg1"/>
                </a:solidFill>
              </a:rPr>
              <a:t>FIN DEL TEMA </a:t>
            </a:r>
            <a:r>
              <a:rPr lang="es-PE" sz="24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50166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3286929"/>
              </p:ext>
            </p:extLst>
          </p:nvPr>
        </p:nvGraphicFramePr>
        <p:xfrm>
          <a:off x="487873" y="169817"/>
          <a:ext cx="8333197" cy="6048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73" y="1262129"/>
            <a:ext cx="8333197" cy="430370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771491" y="1668706"/>
            <a:ext cx="8003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Considere los puntos más confusos</a:t>
            </a: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planteando las siguientes interrogantes: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>
                <a:solidFill>
                  <a:schemeClr val="bg1"/>
                </a:solidFill>
                <a:latin typeface="Comic Sans MS" panose="030F0702030302020204" pitchFamily="66" charset="0"/>
              </a:rPr>
              <a:t>¿</a:t>
            </a: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Cuál fue el tema más confuso sobre el que hablamos hoy en el aula?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¿Qué preguntas tiene aún sobre el tema de hoy?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¿Qué ejemplos usamos que no tuvieron sentido?</a:t>
            </a:r>
            <a:endParaRPr lang="es-PE" sz="1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71491" y="3035156"/>
            <a:ext cx="7765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Considere una minuta</a:t>
            </a: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, planteando las siguientes interrogantes: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¿Cuál fue el tema más importante sobre el que hablamos hoy en el aula?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¿Cuáles fueron los ejemplos más útiles?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¿Cuáles fueron las preguntas más útiles?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PE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¿Cuáles fueron los temas clave discutidos hoy en clase?</a:t>
            </a:r>
            <a:endParaRPr lang="es-PE" sz="1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84831" y="4569449"/>
            <a:ext cx="3776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Autoaprendizaje, </a:t>
            </a:r>
            <a:r>
              <a:rPr lang="es-PE" b="1" dirty="0">
                <a:solidFill>
                  <a:schemeClr val="bg1"/>
                </a:solidFill>
                <a:latin typeface="Comic Sans MS" panose="030F0702030302020204" pitchFamily="66" charset="0"/>
              </a:rPr>
              <a:t>d</a:t>
            </a:r>
            <a:r>
              <a:rPr lang="es-PE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el estudiante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0958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4119283907"/>
              </p:ext>
            </p:extLst>
          </p:nvPr>
        </p:nvGraphicFramePr>
        <p:xfrm>
          <a:off x="487873" y="169817"/>
          <a:ext cx="8333197" cy="6048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Imagen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74" y="1210614"/>
            <a:ext cx="8333196" cy="4340181"/>
          </a:xfrm>
          <a:prstGeom prst="rect">
            <a:avLst/>
          </a:prstGeom>
        </p:spPr>
      </p:pic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87872" y="1448258"/>
            <a:ext cx="237626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1400" dirty="0" smtClean="0">
                <a:solidFill>
                  <a:srgbClr val="FFFF00"/>
                </a:solidFill>
              </a:rPr>
              <a:t>ENLACES</a:t>
            </a:r>
            <a:endParaRPr lang="en-US" sz="1400" dirty="0" smtClean="0">
              <a:solidFill>
                <a:srgbClr val="FFFF00"/>
              </a:solidFill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487872" y="2570696"/>
            <a:ext cx="237626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1400" dirty="0" smtClean="0">
                <a:solidFill>
                  <a:srgbClr val="FFFF00"/>
                </a:solidFill>
              </a:rPr>
              <a:t>VIDEOS</a:t>
            </a:r>
            <a:endParaRPr lang="en-US" sz="1400" dirty="0" smtClean="0">
              <a:solidFill>
                <a:srgbClr val="FFFF00"/>
              </a:solidFill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1217536" y="3066243"/>
            <a:ext cx="61206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PE" sz="1600" dirty="0">
                <a:hlinkClick r:id="rId8"/>
              </a:rPr>
              <a:t>https://</a:t>
            </a:r>
            <a:r>
              <a:rPr lang="es-PE" sz="1600" dirty="0" smtClean="0">
                <a:hlinkClick r:id="rId8"/>
              </a:rPr>
              <a:t>www.youtube.com/watch?v=6UM7xXLySO4</a:t>
            </a:r>
            <a:endParaRPr lang="es-PE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s-PE" sz="1600" dirty="0">
                <a:hlinkClick r:id="rId9"/>
              </a:rPr>
              <a:t>https://</a:t>
            </a:r>
            <a:r>
              <a:rPr lang="es-PE" sz="1600" dirty="0" smtClean="0">
                <a:hlinkClick r:id="rId9"/>
              </a:rPr>
              <a:t>www.youtube.com/watch?v=3R27HUwjSUM</a:t>
            </a:r>
            <a:endParaRPr lang="es-PE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s-PE" sz="1600" dirty="0">
                <a:hlinkClick r:id="rId10"/>
              </a:rPr>
              <a:t>https://</a:t>
            </a:r>
            <a:r>
              <a:rPr lang="es-PE" sz="1600" dirty="0" smtClean="0">
                <a:hlinkClick r:id="rId10"/>
              </a:rPr>
              <a:t>www.youtube.com/watch?v=zEQnlLiCpKo</a:t>
            </a:r>
            <a:endParaRPr lang="es-PE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s-PE" sz="1600" dirty="0">
                <a:hlinkClick r:id="rId11"/>
              </a:rPr>
              <a:t>https://</a:t>
            </a:r>
            <a:r>
              <a:rPr lang="es-PE" sz="1600" dirty="0" smtClean="0">
                <a:hlinkClick r:id="rId11"/>
              </a:rPr>
              <a:t>www.youtube.com/watch?v=OfO5pPSPOa8</a:t>
            </a:r>
            <a:endParaRPr lang="es-PE" sz="1600" dirty="0" smtClean="0"/>
          </a:p>
          <a:p>
            <a:pPr marL="342900" indent="-342900">
              <a:buFont typeface="+mj-lt"/>
              <a:buAutoNum type="arabicPeriod"/>
            </a:pPr>
            <a:endParaRPr lang="es-PE" sz="1600" dirty="0" smtClean="0"/>
          </a:p>
          <a:p>
            <a:endParaRPr lang="es-PE" sz="1600" dirty="0" smtClean="0"/>
          </a:p>
        </p:txBody>
      </p:sp>
      <p:sp>
        <p:nvSpPr>
          <p:cNvPr id="16" name="Rectángulo 15"/>
          <p:cNvSpPr/>
          <p:nvPr/>
        </p:nvSpPr>
        <p:spPr>
          <a:xfrm>
            <a:off x="1217536" y="1898858"/>
            <a:ext cx="74301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PE" sz="1600" b="1" dirty="0">
                <a:hlinkClick r:id="rId12"/>
              </a:rPr>
              <a:t>http://histinf.blogs.upv.es/2011/01/04/historia-de-las-bases-de-datos</a:t>
            </a:r>
            <a:r>
              <a:rPr lang="es-PE" sz="1600" b="1" dirty="0" smtClean="0">
                <a:hlinkClick r:id="rId12"/>
              </a:rPr>
              <a:t>/</a:t>
            </a:r>
            <a:endParaRPr lang="es-PE" sz="1600" b="1" dirty="0" smtClean="0"/>
          </a:p>
          <a:p>
            <a:pPr marL="342900" indent="-342900">
              <a:buFont typeface="+mj-lt"/>
              <a:buAutoNum type="arabicPeriod"/>
            </a:pPr>
            <a:r>
              <a:rPr lang="es-PE" sz="1600" b="1" dirty="0">
                <a:hlinkClick r:id="rId13"/>
              </a:rPr>
              <a:t>https://www.preceden.com/timelines/48236-historia-de--</a:t>
            </a:r>
            <a:r>
              <a:rPr lang="es-PE" sz="1600" b="1" dirty="0" smtClean="0">
                <a:hlinkClick r:id="rId13"/>
              </a:rPr>
              <a:t>las-bases-de-datos</a:t>
            </a:r>
            <a:endParaRPr lang="es-PE" sz="1600" b="1" dirty="0" smtClean="0"/>
          </a:p>
          <a:p>
            <a:pPr marL="342900" indent="-342900">
              <a:buFont typeface="+mj-lt"/>
              <a:buAutoNum type="arabicPeriod"/>
            </a:pPr>
            <a:endParaRPr lang="es-PE" sz="1600" b="1" dirty="0" smtClean="0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1063687" y="4297626"/>
            <a:ext cx="24632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1400" dirty="0" smtClean="0">
                <a:solidFill>
                  <a:srgbClr val="FFFF00"/>
                </a:solidFill>
              </a:rPr>
              <a:t>MANUAL DEL CURSO</a:t>
            </a:r>
            <a:endParaRPr lang="en-US" sz="1400" dirty="0" smtClean="0">
              <a:solidFill>
                <a:srgbClr val="FFFF00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3526970" y="4312738"/>
            <a:ext cx="49377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 smtClean="0">
                <a:solidFill>
                  <a:schemeClr val="bg1"/>
                </a:solidFill>
              </a:rPr>
              <a:t>Es obligatorio utilizar durante todo el proceso del curso.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336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1533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7103</TotalTime>
  <Words>909</Words>
  <Application>Microsoft Office PowerPoint</Application>
  <PresentationFormat>Presentación en pantalla (4:3)</PresentationFormat>
  <Paragraphs>122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Tema de Office</vt:lpstr>
      <vt:lpstr>1_Tema de Office</vt:lpstr>
      <vt:lpstr>Carrera Profesional Técnica</vt:lpstr>
      <vt:lpstr>Contenido</vt:lpstr>
      <vt:lpstr>INTRODUCCIÓN AL CURSO</vt:lpstr>
      <vt:lpstr>IMPORTANCIA DEL CURSO</vt:lpstr>
      <vt:lpstr>HAGA UNA PAUSA (REFLEXIÓN)</vt:lpstr>
      <vt:lpstr>Contenido</vt:lpstr>
      <vt:lpstr>SURGIMIENTO HISTÓRICO DE LAS BASE DE DATOS</vt:lpstr>
      <vt:lpstr>SURGIMIENTO HISTÓRICO DE LAS BASE DE DATOS</vt:lpstr>
      <vt:lpstr>DEFINICIÓN DE BASE DE DATOS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HAGA UNA PAUSA (REFLEXIÓN)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Online</dc:title>
  <dc:creator>Patricia Guerrero Romero</dc:creator>
  <cp:lastModifiedBy>Rosa </cp:lastModifiedBy>
  <cp:revision>875</cp:revision>
  <cp:lastPrinted>2016-05-11T22:42:51Z</cp:lastPrinted>
  <dcterms:created xsi:type="dcterms:W3CDTF">2016-03-17T13:55:50Z</dcterms:created>
  <dcterms:modified xsi:type="dcterms:W3CDTF">2018-06-25T18:26:56Z</dcterms:modified>
</cp:coreProperties>
</file>